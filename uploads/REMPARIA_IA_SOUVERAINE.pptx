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6" name="Sébastien Houzet"/>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7-10T07:05:28.878">
    <p:pos x="316" y="334"/>
    <p:text>dur de dire que l'on n'utilise pas l'ia générique.
Car cela veut dire que l'on a toujours un LLM sur mesure.
Je parlerais plus de mettre emplace l'IA et la structure permettant de répondre à vos exigence et obligations</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7-10T07:06:02.429">
    <p:pos x="6000" y="0"/>
    <p:text>j'adore !</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7-10T07:08:35.342">
    <p:pos x="6000" y="0"/>
    <p:text>a voir comment réussir à faire cela, car nous n'aurons pas accès à leur données et leurs outils.
Je ferais plus une présentation de nos agents qui tournent pour nous mais pas de parler d'un POC pour le client</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7-10T07:10:02.351">
    <p:pos x="460" y="1497"/>
    <p:text>Aucune production sur un besoin réel, juste de la théorie ou des exemples générique mais pas une construction en lien avec votre entreprise.</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7-10T07:18:54.484">
    <p:pos x="443" y="2522"/>
    <p:text>très engagent et je ne vois pas comment build un usage client en 48H</p:text>
  </p:cm>
  <p:cm authorId="0" idx="6" dt="2026-07-10T07:19:22.029">
    <p:pos x="316" y="1353"/>
    <p:text>On ne comprends pas nos promesse dans cette phrase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5.png"/><Relationship Id="rId4" Type="http://schemas.openxmlformats.org/officeDocument/2006/relationships/image" Target="../media/image19.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omments" Target="../comments/comment1.xml"/><Relationship Id="rId4" Type="http://schemas.openxmlformats.org/officeDocument/2006/relationships/image" Target="../media/image4.png"/><Relationship Id="rId9" Type="http://schemas.openxmlformats.org/officeDocument/2006/relationships/image" Target="../media/image13.png"/><Relationship Id="rId5" Type="http://schemas.openxmlformats.org/officeDocument/2006/relationships/image" Target="../media/image10.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omments" Target="../comments/commen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omments" Target="../comments/commen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25.png"/><Relationship Id="rId5"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omments" Target="../comments/commen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comments" Target="../comments/comment5.xml"/><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F"/>
        </a:solidFill>
      </p:bgPr>
    </p:bg>
    <p:spTree>
      <p:nvGrpSpPr>
        <p:cNvPr id="15" name="Shape 15"/>
        <p:cNvGrpSpPr/>
        <p:nvPr/>
      </p:nvGrpSpPr>
      <p:grpSpPr>
        <a:xfrm>
          <a:off x="0" y="0"/>
          <a:ext cx="0" cy="0"/>
          <a:chOff x="0" y="0"/>
          <a:chExt cx="0" cy="0"/>
        </a:xfrm>
      </p:grpSpPr>
      <p:sp>
        <p:nvSpPr>
          <p:cNvPr id="16" name="Google Shape;16;p3"/>
          <p:cNvSpPr/>
          <p:nvPr/>
        </p:nvSpPr>
        <p:spPr>
          <a:xfrm>
            <a:off x="502920" y="806958"/>
            <a:ext cx="50292" cy="123444"/>
          </a:xfrm>
          <a:prstGeom prst="roundRect">
            <a:avLst>
              <a:gd fmla="val 50000" name="adj"/>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928597" y="745236"/>
            <a:ext cx="50292" cy="246888"/>
          </a:xfrm>
          <a:prstGeom prst="roundRect">
            <a:avLst>
              <a:gd fmla="val 50000" name="adj"/>
            </a:avLst>
          </a:prstGeom>
          <a:solidFill>
            <a:srgbClr val="232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1354275" y="662940"/>
            <a:ext cx="50292" cy="411480"/>
          </a:xfrm>
          <a:prstGeom prst="roundRect">
            <a:avLst>
              <a:gd fmla="val 50000" name="adj"/>
            </a:avLst>
          </a:prstGeom>
          <a:solidFill>
            <a:srgbClr val="4A4A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1779952" y="518922"/>
            <a:ext cx="50292" cy="699516"/>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2205629" y="621792"/>
            <a:ext cx="50292" cy="493776"/>
          </a:xfrm>
          <a:prstGeom prst="roundRect">
            <a:avLst>
              <a:gd fmla="val 50000" name="adj"/>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2631306" y="457200"/>
            <a:ext cx="50292" cy="822960"/>
          </a:xfrm>
          <a:prstGeom prst="roundRect">
            <a:avLst>
              <a:gd fmla="val 50000" name="adj"/>
            </a:avLst>
          </a:prstGeom>
          <a:solidFill>
            <a:srgbClr val="232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3056984" y="580644"/>
            <a:ext cx="50292" cy="576072"/>
          </a:xfrm>
          <a:prstGeom prst="roundRect">
            <a:avLst>
              <a:gd fmla="val 50000" name="adj"/>
            </a:avLst>
          </a:prstGeom>
          <a:solidFill>
            <a:srgbClr val="4A4A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3482661" y="704088"/>
            <a:ext cx="50292" cy="329184"/>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3908338" y="498348"/>
            <a:ext cx="50292" cy="740664"/>
          </a:xfrm>
          <a:prstGeom prst="roundRect">
            <a:avLst>
              <a:gd fmla="val 50000" name="adj"/>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4334015" y="642366"/>
            <a:ext cx="50292" cy="452628"/>
          </a:xfrm>
          <a:prstGeom prst="roundRect">
            <a:avLst>
              <a:gd fmla="val 50000" name="adj"/>
            </a:avLst>
          </a:prstGeom>
          <a:solidFill>
            <a:srgbClr val="232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4759693" y="560070"/>
            <a:ext cx="50292" cy="617220"/>
          </a:xfrm>
          <a:prstGeom prst="roundRect">
            <a:avLst>
              <a:gd fmla="val 50000" name="adj"/>
            </a:avLst>
          </a:prstGeom>
          <a:solidFill>
            <a:srgbClr val="4A4A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5185370" y="724662"/>
            <a:ext cx="50292" cy="288036"/>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5611047" y="621792"/>
            <a:ext cx="50292" cy="493776"/>
          </a:xfrm>
          <a:prstGeom prst="roundRect">
            <a:avLst>
              <a:gd fmla="val 50000" name="adj"/>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6036724" y="786384"/>
            <a:ext cx="50292" cy="164592"/>
          </a:xfrm>
          <a:prstGeom prst="roundRect">
            <a:avLst>
              <a:gd fmla="val 50000" name="adj"/>
            </a:avLst>
          </a:prstGeom>
          <a:solidFill>
            <a:srgbClr val="232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6462402" y="683514"/>
            <a:ext cx="50292" cy="370332"/>
          </a:xfrm>
          <a:prstGeom prst="roundRect">
            <a:avLst>
              <a:gd fmla="val 50000" name="adj"/>
            </a:avLst>
          </a:prstGeom>
          <a:solidFill>
            <a:srgbClr val="4A4A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6888079" y="539496"/>
            <a:ext cx="50292" cy="658368"/>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7313756" y="662940"/>
            <a:ext cx="50292" cy="411480"/>
          </a:xfrm>
          <a:prstGeom prst="roundRect">
            <a:avLst>
              <a:gd fmla="val 50000" name="adj"/>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7739433" y="745236"/>
            <a:ext cx="50292" cy="246888"/>
          </a:xfrm>
          <a:prstGeom prst="roundRect">
            <a:avLst>
              <a:gd fmla="val 50000" name="adj"/>
            </a:avLst>
          </a:prstGeom>
          <a:solidFill>
            <a:srgbClr val="232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8165111" y="601218"/>
            <a:ext cx="50292" cy="534924"/>
          </a:xfrm>
          <a:prstGeom prst="roundRect">
            <a:avLst>
              <a:gd fmla="val 50000" name="adj"/>
            </a:avLst>
          </a:prstGeom>
          <a:solidFill>
            <a:srgbClr val="4A4A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a:off x="8590788" y="765810"/>
            <a:ext cx="50292" cy="20574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a:off x="502920" y="1737360"/>
            <a:ext cx="81381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000"/>
              <a:buFont typeface="Arial"/>
              <a:buNone/>
            </a:pPr>
            <a:r>
              <a:rPr b="1" lang="en-US" sz="6000">
                <a:solidFill>
                  <a:srgbClr val="FFFFFF"/>
                </a:solidFill>
              </a:rPr>
              <a:t>REMPARIA</a:t>
            </a:r>
            <a:endParaRPr b="0" i="0" sz="6000" u="none" cap="none" strike="noStrike">
              <a:solidFill>
                <a:schemeClr val="dk1"/>
              </a:solidFill>
              <a:latin typeface="Calibri"/>
              <a:ea typeface="Calibri"/>
              <a:cs typeface="Calibri"/>
              <a:sym typeface="Calibri"/>
            </a:endParaRPr>
          </a:p>
        </p:txBody>
      </p:sp>
      <p:sp>
        <p:nvSpPr>
          <p:cNvPr id="37" name="Google Shape;37;p3"/>
          <p:cNvSpPr/>
          <p:nvPr/>
        </p:nvSpPr>
        <p:spPr>
          <a:xfrm>
            <a:off x="502920" y="2697480"/>
            <a:ext cx="81381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C9E8"/>
              </a:buClr>
              <a:buSzPts val="2200"/>
              <a:buFont typeface="Arial"/>
              <a:buNone/>
            </a:pPr>
            <a:r>
              <a:rPr b="0" i="0" lang="en-US" sz="2200" u="none" cap="none" strike="noStrike">
                <a:solidFill>
                  <a:srgbClr val="C9C9E8"/>
                </a:solidFill>
                <a:latin typeface="Arial"/>
                <a:ea typeface="Arial"/>
                <a:cs typeface="Arial"/>
                <a:sym typeface="Arial"/>
              </a:rPr>
              <a:t>L'IA souveraine qui augmente vos équipes.</a:t>
            </a:r>
            <a:endParaRPr b="0" i="0" sz="2200" u="none" cap="none" strike="noStrike">
              <a:solidFill>
                <a:schemeClr val="dk1"/>
              </a:solidFill>
              <a:latin typeface="Calibri"/>
              <a:ea typeface="Calibri"/>
              <a:cs typeface="Calibri"/>
              <a:sym typeface="Calibri"/>
            </a:endParaRPr>
          </a:p>
        </p:txBody>
      </p:sp>
      <p:sp>
        <p:nvSpPr>
          <p:cNvPr id="38" name="Google Shape;38;p3"/>
          <p:cNvSpPr/>
          <p:nvPr/>
        </p:nvSpPr>
        <p:spPr>
          <a:xfrm>
            <a:off x="502920" y="3977640"/>
            <a:ext cx="8138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AGENTS IA</a:t>
            </a:r>
            <a:r>
              <a:rPr b="0" i="0" lang="en-US" sz="1200" u="none" cap="none" strike="noStrike">
                <a:solidFill>
                  <a:srgbClr val="4A4AD4"/>
                </a:solidFill>
                <a:latin typeface="Arial"/>
                <a:ea typeface="Arial"/>
                <a:cs typeface="Arial"/>
                <a:sym typeface="Arial"/>
              </a:rPr>
              <a:t>     ·     </a:t>
            </a:r>
            <a:r>
              <a:rPr b="1" i="0" lang="en-US" sz="1200" u="none" cap="none" strike="noStrike">
                <a:solidFill>
                  <a:srgbClr val="FFFFFF"/>
                </a:solidFill>
                <a:latin typeface="Arial"/>
                <a:ea typeface="Arial"/>
                <a:cs typeface="Arial"/>
                <a:sym typeface="Arial"/>
              </a:rPr>
              <a:t>INFRASTRUCTURE SOUVERAINE</a:t>
            </a:r>
            <a:r>
              <a:rPr b="0" i="0" lang="en-US" sz="1200" u="none" cap="none" strike="noStrike">
                <a:solidFill>
                  <a:srgbClr val="4A4AD4"/>
                </a:solidFill>
                <a:latin typeface="Arial"/>
                <a:ea typeface="Arial"/>
                <a:cs typeface="Arial"/>
                <a:sym typeface="Arial"/>
              </a:rPr>
              <a:t>     ·     </a:t>
            </a:r>
            <a:r>
              <a:rPr b="1" i="0" lang="en-US" sz="1200" u="none" cap="none" strike="noStrike">
                <a:solidFill>
                  <a:srgbClr val="FFFFFF"/>
                </a:solidFill>
                <a:latin typeface="Arial"/>
                <a:ea typeface="Arial"/>
                <a:cs typeface="Arial"/>
                <a:sym typeface="Arial"/>
              </a:rPr>
              <a:t>MÉTIERS SPÉCIALISÉS</a:t>
            </a:r>
            <a:endParaRPr b="0" i="0" sz="1200" u="none" cap="none" strike="noStrike">
              <a:solidFill>
                <a:schemeClr val="dk1"/>
              </a:solidFill>
              <a:latin typeface="Calibri"/>
              <a:ea typeface="Calibri"/>
              <a:cs typeface="Calibri"/>
              <a:sym typeface="Calibri"/>
            </a:endParaRPr>
          </a:p>
        </p:txBody>
      </p:sp>
      <p:sp>
        <p:nvSpPr>
          <p:cNvPr id="39" name="Google Shape;39;p3"/>
          <p:cNvSpPr/>
          <p:nvPr/>
        </p:nvSpPr>
        <p:spPr>
          <a:xfrm>
            <a:off x="502920" y="4526280"/>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100"/>
              <a:buFont typeface="Arial"/>
              <a:buNone/>
            </a:pPr>
            <a:r>
              <a:rPr b="0" i="0" lang="en-US" sz="1100" u="none" cap="none" strike="noStrike">
                <a:solidFill>
                  <a:srgbClr val="5A5A66"/>
                </a:solidFill>
                <a:latin typeface="Arial"/>
                <a:ea typeface="Arial"/>
                <a:cs typeface="Arial"/>
                <a:sym typeface="Arial"/>
              </a:rPr>
              <a:t>Collectif fondé et opéré par ses associés. France, 2026.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4"/>
          <p:cNvSpPr/>
          <p:nvPr/>
        </p:nvSpPr>
        <p:spPr>
          <a:xfrm>
            <a:off x="502920" y="221513"/>
            <a:ext cx="8138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1100"/>
              <a:buFont typeface="Arial"/>
              <a:buNone/>
            </a:pPr>
            <a:r>
              <a:rPr b="1" i="0" lang="en-US" sz="1100" u="none" cap="none" strike="noStrike">
                <a:solidFill>
                  <a:srgbClr val="000091"/>
                </a:solidFill>
                <a:latin typeface="Arial"/>
                <a:ea typeface="Arial"/>
                <a:cs typeface="Arial"/>
                <a:sym typeface="Arial"/>
              </a:rPr>
              <a:t>LE CONSTAT</a:t>
            </a:r>
            <a:endParaRPr b="0" i="0" sz="1100" u="none" cap="none" strike="noStrike">
              <a:solidFill>
                <a:schemeClr val="dk1"/>
              </a:solidFill>
              <a:latin typeface="Calibri"/>
              <a:ea typeface="Calibri"/>
              <a:cs typeface="Calibri"/>
              <a:sym typeface="Calibri"/>
            </a:endParaRPr>
          </a:p>
        </p:txBody>
      </p:sp>
      <p:sp>
        <p:nvSpPr>
          <p:cNvPr id="46" name="Google Shape;46;p4"/>
          <p:cNvSpPr/>
          <p:nvPr/>
        </p:nvSpPr>
        <p:spPr>
          <a:xfrm>
            <a:off x="502920" y="530352"/>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3000"/>
              <a:buFont typeface="Arial"/>
              <a:buNone/>
            </a:pPr>
            <a:r>
              <a:rPr b="1" lang="en-US" sz="3000">
                <a:solidFill>
                  <a:srgbClr val="0B0B0F"/>
                </a:solidFill>
              </a:rPr>
              <a:t>Tout le monde parle d'IA. Peu d'entreprises créent réellement de la valeur. </a:t>
            </a:r>
            <a:endParaRPr b="0" i="0" sz="3000" u="none" cap="none" strike="noStrike">
              <a:solidFill>
                <a:schemeClr val="dk1"/>
              </a:solidFill>
              <a:latin typeface="Calibri"/>
              <a:ea typeface="Calibri"/>
              <a:cs typeface="Calibri"/>
              <a:sym typeface="Calibri"/>
            </a:endParaRPr>
          </a:p>
        </p:txBody>
      </p:sp>
      <p:sp>
        <p:nvSpPr>
          <p:cNvPr id="47" name="Google Shape;47;p4"/>
          <p:cNvSpPr/>
          <p:nvPr/>
        </p:nvSpPr>
        <p:spPr>
          <a:xfrm>
            <a:off x="502920" y="1325880"/>
            <a:ext cx="8138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400"/>
              <a:buFont typeface="Calibri"/>
              <a:buNone/>
            </a:pPr>
            <a:r>
              <a:rPr b="0" i="0" lang="en-US" sz="1400" u="none" cap="none" strike="noStrike">
                <a:solidFill>
                  <a:srgbClr val="5A5A66"/>
                </a:solidFill>
                <a:latin typeface="Calibri"/>
                <a:ea typeface="Calibri"/>
                <a:cs typeface="Calibri"/>
                <a:sym typeface="Calibri"/>
              </a:rPr>
              <a:t>Tout le monde a testé ChatGPT. Très peu d'organisations ont transformé cet enthousiasme en gains opérationnels durables. Entre le POC qui impressionne et l'agent qui travaille vraiment tous les jours, il y a un fossé : celui de l'intégration métier, de la conformité et de la conduite du changement.</a:t>
            </a:r>
            <a:endParaRPr b="0" i="0" sz="1400" u="none" cap="none" strike="noStrike">
              <a:solidFill>
                <a:schemeClr val="dk1"/>
              </a:solidFill>
              <a:latin typeface="Calibri"/>
              <a:ea typeface="Calibri"/>
              <a:cs typeface="Calibri"/>
              <a:sym typeface="Calibri"/>
            </a:endParaRPr>
          </a:p>
        </p:txBody>
      </p:sp>
      <p:sp>
        <p:nvSpPr>
          <p:cNvPr id="48" name="Google Shape;48;p4"/>
          <p:cNvSpPr/>
          <p:nvPr/>
        </p:nvSpPr>
        <p:spPr>
          <a:xfrm>
            <a:off x="502920" y="2331720"/>
            <a:ext cx="2606040" cy="2286000"/>
          </a:xfrm>
          <a:prstGeom prst="roundRect">
            <a:avLst>
              <a:gd fmla="val 3200" name="adj"/>
            </a:avLst>
          </a:prstGeom>
          <a:solidFill>
            <a:srgbClr val="F4F5FA"/>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731520" y="2560320"/>
            <a:ext cx="475488" cy="475488"/>
          </a:xfrm>
          <a:prstGeom prst="ellipse">
            <a:avLst/>
          </a:prstGeom>
          <a:solidFill>
            <a:srgbClr val="EDEE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0" name="Google Shape;50;p4"/>
          <p:cNvPicPr preferRelativeResize="0"/>
          <p:nvPr/>
        </p:nvPicPr>
        <p:blipFill rotWithShape="1">
          <a:blip r:embed="rId3">
            <a:alphaModFix/>
          </a:blip>
          <a:srcRect b="0" l="0" r="0" t="0"/>
          <a:stretch/>
        </p:blipFill>
        <p:spPr>
          <a:xfrm>
            <a:off x="855147" y="2683947"/>
            <a:ext cx="228234" cy="228234"/>
          </a:xfrm>
          <a:prstGeom prst="rect">
            <a:avLst/>
          </a:prstGeom>
          <a:noFill/>
          <a:ln>
            <a:noFill/>
          </a:ln>
        </p:spPr>
      </p:pic>
      <p:sp>
        <p:nvSpPr>
          <p:cNvPr id="51" name="Google Shape;51;p4"/>
          <p:cNvSpPr/>
          <p:nvPr/>
        </p:nvSpPr>
        <p:spPr>
          <a:xfrm>
            <a:off x="731520" y="3063240"/>
            <a:ext cx="21945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4000"/>
              <a:buFont typeface="Arial"/>
              <a:buNone/>
            </a:pPr>
            <a:r>
              <a:rPr b="1" i="0" lang="en-US" sz="4000" u="none" cap="none" strike="noStrike">
                <a:solidFill>
                  <a:srgbClr val="000091"/>
                </a:solidFill>
                <a:latin typeface="Arial"/>
                <a:ea typeface="Arial"/>
                <a:cs typeface="Arial"/>
                <a:sym typeface="Arial"/>
              </a:rPr>
              <a:t>80%</a:t>
            </a:r>
            <a:endParaRPr b="0" i="0" sz="4000" u="none" cap="none" strike="noStrike">
              <a:solidFill>
                <a:schemeClr val="dk1"/>
              </a:solidFill>
              <a:latin typeface="Calibri"/>
              <a:ea typeface="Calibri"/>
              <a:cs typeface="Calibri"/>
              <a:sym typeface="Calibri"/>
            </a:endParaRPr>
          </a:p>
        </p:txBody>
      </p:sp>
      <p:sp>
        <p:nvSpPr>
          <p:cNvPr id="52" name="Google Shape;52;p4"/>
          <p:cNvSpPr/>
          <p:nvPr/>
        </p:nvSpPr>
        <p:spPr>
          <a:xfrm>
            <a:off x="731520" y="3703320"/>
            <a:ext cx="21945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250"/>
              <a:buFont typeface="Calibri"/>
              <a:buNone/>
            </a:pPr>
            <a:r>
              <a:rPr b="0" i="0" lang="en-US" sz="1250" u="none" cap="none" strike="noStrike">
                <a:solidFill>
                  <a:srgbClr val="0B0B0F"/>
                </a:solidFill>
                <a:latin typeface="Calibri"/>
                <a:ea typeface="Calibri"/>
                <a:cs typeface="Calibri"/>
                <a:sym typeface="Calibri"/>
              </a:rPr>
              <a:t>des projets IA en entreprise n'atteignent jamais la production</a:t>
            </a:r>
            <a:endParaRPr b="0" i="0" sz="1250" u="none" cap="none" strike="noStrike">
              <a:solidFill>
                <a:schemeClr val="dk1"/>
              </a:solidFill>
              <a:latin typeface="Calibri"/>
              <a:ea typeface="Calibri"/>
              <a:cs typeface="Calibri"/>
              <a:sym typeface="Calibri"/>
            </a:endParaRPr>
          </a:p>
        </p:txBody>
      </p:sp>
      <p:sp>
        <p:nvSpPr>
          <p:cNvPr id="53" name="Google Shape;53;p4"/>
          <p:cNvSpPr/>
          <p:nvPr/>
        </p:nvSpPr>
        <p:spPr>
          <a:xfrm>
            <a:off x="3291840" y="2331720"/>
            <a:ext cx="2606040" cy="2286000"/>
          </a:xfrm>
          <a:prstGeom prst="roundRect">
            <a:avLst>
              <a:gd fmla="val 3200" name="adj"/>
            </a:avLst>
          </a:prstGeom>
          <a:solidFill>
            <a:srgbClr val="F4F5FA"/>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3520440" y="2560320"/>
            <a:ext cx="475488" cy="475488"/>
          </a:xfrm>
          <a:prstGeom prst="ellipse">
            <a:avLst/>
          </a:prstGeom>
          <a:solidFill>
            <a:srgbClr val="EDEE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5" name="Google Shape;55;p4"/>
          <p:cNvPicPr preferRelativeResize="0"/>
          <p:nvPr/>
        </p:nvPicPr>
        <p:blipFill rotWithShape="1">
          <a:blip r:embed="rId4">
            <a:alphaModFix/>
          </a:blip>
          <a:srcRect b="0" l="0" r="0" t="0"/>
          <a:stretch/>
        </p:blipFill>
        <p:spPr>
          <a:xfrm>
            <a:off x="3644067" y="2683947"/>
            <a:ext cx="228234" cy="228234"/>
          </a:xfrm>
          <a:prstGeom prst="rect">
            <a:avLst/>
          </a:prstGeom>
          <a:noFill/>
          <a:ln>
            <a:noFill/>
          </a:ln>
        </p:spPr>
      </p:pic>
      <p:sp>
        <p:nvSpPr>
          <p:cNvPr id="56" name="Google Shape;56;p4"/>
          <p:cNvSpPr/>
          <p:nvPr/>
        </p:nvSpPr>
        <p:spPr>
          <a:xfrm>
            <a:off x="3520440" y="3063240"/>
            <a:ext cx="21945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4000"/>
              <a:buFont typeface="Arial"/>
              <a:buNone/>
            </a:pPr>
            <a:r>
              <a:rPr b="1" i="0" lang="en-US" sz="4000" u="none" cap="none" strike="noStrike">
                <a:solidFill>
                  <a:srgbClr val="000091"/>
                </a:solidFill>
                <a:latin typeface="Arial"/>
                <a:ea typeface="Arial"/>
                <a:cs typeface="Arial"/>
                <a:sym typeface="Arial"/>
              </a:rPr>
              <a:t>x3</a:t>
            </a:r>
            <a:endParaRPr b="0" i="0" sz="4000" u="none" cap="none" strike="noStrike">
              <a:solidFill>
                <a:schemeClr val="dk1"/>
              </a:solidFill>
              <a:latin typeface="Calibri"/>
              <a:ea typeface="Calibri"/>
              <a:cs typeface="Calibri"/>
              <a:sym typeface="Calibri"/>
            </a:endParaRPr>
          </a:p>
        </p:txBody>
      </p:sp>
      <p:sp>
        <p:nvSpPr>
          <p:cNvPr id="57" name="Google Shape;57;p4"/>
          <p:cNvSpPr/>
          <p:nvPr/>
        </p:nvSpPr>
        <p:spPr>
          <a:xfrm>
            <a:off x="3520440" y="3703320"/>
            <a:ext cx="21945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250"/>
              <a:buFont typeface="Calibri"/>
              <a:buNone/>
            </a:pPr>
            <a:r>
              <a:rPr b="0" i="0" lang="en-US" sz="1250" u="none" cap="none" strike="noStrike">
                <a:solidFill>
                  <a:srgbClr val="0B0B0F"/>
                </a:solidFill>
                <a:latin typeface="Calibri"/>
                <a:ea typeface="Calibri"/>
                <a:cs typeface="Calibri"/>
                <a:sym typeface="Calibri"/>
              </a:rPr>
              <a:t>l'écart d'adoption de l'IA entre grands groupes et PME françaises</a:t>
            </a:r>
            <a:endParaRPr b="0" i="0" sz="1250" u="none" cap="none" strike="noStrike">
              <a:solidFill>
                <a:schemeClr val="dk1"/>
              </a:solidFill>
              <a:latin typeface="Calibri"/>
              <a:ea typeface="Calibri"/>
              <a:cs typeface="Calibri"/>
              <a:sym typeface="Calibri"/>
            </a:endParaRPr>
          </a:p>
        </p:txBody>
      </p:sp>
      <p:sp>
        <p:nvSpPr>
          <p:cNvPr id="58" name="Google Shape;58;p4"/>
          <p:cNvSpPr/>
          <p:nvPr/>
        </p:nvSpPr>
        <p:spPr>
          <a:xfrm>
            <a:off x="6080760" y="2331720"/>
            <a:ext cx="2606040" cy="2286000"/>
          </a:xfrm>
          <a:prstGeom prst="roundRect">
            <a:avLst>
              <a:gd fmla="val 3200" name="adj"/>
            </a:avLst>
          </a:prstGeom>
          <a:solidFill>
            <a:srgbClr val="F4F5FA"/>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6309360" y="2560320"/>
            <a:ext cx="475488" cy="475488"/>
          </a:xfrm>
          <a:prstGeom prst="ellipse">
            <a:avLst/>
          </a:prstGeom>
          <a:solidFill>
            <a:srgbClr val="EDEE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0" name="Google Shape;60;p4"/>
          <p:cNvPicPr preferRelativeResize="0"/>
          <p:nvPr/>
        </p:nvPicPr>
        <p:blipFill rotWithShape="1">
          <a:blip r:embed="rId5">
            <a:alphaModFix/>
          </a:blip>
          <a:srcRect b="0" l="0" r="0" t="0"/>
          <a:stretch/>
        </p:blipFill>
        <p:spPr>
          <a:xfrm>
            <a:off x="6432987" y="2683947"/>
            <a:ext cx="228234" cy="228234"/>
          </a:xfrm>
          <a:prstGeom prst="rect">
            <a:avLst/>
          </a:prstGeom>
          <a:noFill/>
          <a:ln>
            <a:noFill/>
          </a:ln>
        </p:spPr>
      </p:pic>
      <p:sp>
        <p:nvSpPr>
          <p:cNvPr id="61" name="Google Shape;61;p4"/>
          <p:cNvSpPr/>
          <p:nvPr/>
        </p:nvSpPr>
        <p:spPr>
          <a:xfrm>
            <a:off x="6309360" y="3063240"/>
            <a:ext cx="21945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4000"/>
              <a:buFont typeface="Arial"/>
              <a:buNone/>
            </a:pPr>
            <a:r>
              <a:rPr b="1" i="0" lang="en-US" sz="4000" u="none" cap="none" strike="noStrike">
                <a:solidFill>
                  <a:srgbClr val="000091"/>
                </a:solidFill>
                <a:latin typeface="Arial"/>
                <a:ea typeface="Arial"/>
                <a:cs typeface="Arial"/>
                <a:sym typeface="Arial"/>
              </a:rPr>
              <a:t>0</a:t>
            </a:r>
            <a:endParaRPr b="0" i="0" sz="4000" u="none" cap="none" strike="noStrike">
              <a:solidFill>
                <a:schemeClr val="dk1"/>
              </a:solidFill>
              <a:latin typeface="Calibri"/>
              <a:ea typeface="Calibri"/>
              <a:cs typeface="Calibri"/>
              <a:sym typeface="Calibri"/>
            </a:endParaRPr>
          </a:p>
        </p:txBody>
      </p:sp>
      <p:sp>
        <p:nvSpPr>
          <p:cNvPr id="62" name="Google Shape;62;p4"/>
          <p:cNvSpPr/>
          <p:nvPr/>
        </p:nvSpPr>
        <p:spPr>
          <a:xfrm>
            <a:off x="6309360" y="3703320"/>
            <a:ext cx="21945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250"/>
              <a:buFont typeface="Calibri"/>
              <a:buNone/>
            </a:pPr>
            <a:r>
              <a:rPr b="0" i="0" lang="en-US" sz="1250" u="none" cap="none" strike="noStrike">
                <a:solidFill>
                  <a:srgbClr val="0B0B0F"/>
                </a:solidFill>
                <a:latin typeface="Calibri"/>
                <a:ea typeface="Calibri"/>
                <a:cs typeface="Calibri"/>
                <a:sym typeface="Calibri"/>
              </a:rPr>
              <a:t>outil IA grand public conforme par défaut aux exigences des professions réglementées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 name="Shape 67"/>
        <p:cNvGrpSpPr/>
        <p:nvPr/>
      </p:nvGrpSpPr>
      <p:grpSpPr>
        <a:xfrm>
          <a:off x="0" y="0"/>
          <a:ext cx="0" cy="0"/>
          <a:chOff x="0" y="0"/>
          <a:chExt cx="0" cy="0"/>
        </a:xfrm>
      </p:grpSpPr>
      <p:sp>
        <p:nvSpPr>
          <p:cNvPr id="68" name="Google Shape;68;p5"/>
          <p:cNvSpPr/>
          <p:nvPr/>
        </p:nvSpPr>
        <p:spPr>
          <a:xfrm>
            <a:off x="502920" y="292608"/>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1100"/>
              <a:buFont typeface="Arial"/>
              <a:buNone/>
            </a:pPr>
            <a:r>
              <a:rPr b="1" i="0" lang="en-US" sz="1100" u="none" cap="none" strike="noStrike">
                <a:solidFill>
                  <a:srgbClr val="000091"/>
                </a:solidFill>
                <a:latin typeface="Arial"/>
                <a:ea typeface="Arial"/>
                <a:cs typeface="Arial"/>
                <a:sym typeface="Arial"/>
              </a:rPr>
              <a:t>LE VRAI SUJET</a:t>
            </a:r>
            <a:endParaRPr b="0" i="0" sz="1100" u="none" cap="none" strike="noStrike">
              <a:solidFill>
                <a:schemeClr val="dk1"/>
              </a:solidFill>
              <a:latin typeface="Calibri"/>
              <a:ea typeface="Calibri"/>
              <a:cs typeface="Calibri"/>
              <a:sym typeface="Calibri"/>
            </a:endParaRPr>
          </a:p>
        </p:txBody>
      </p:sp>
      <p:sp>
        <p:nvSpPr>
          <p:cNvPr id="69" name="Google Shape;69;p5"/>
          <p:cNvSpPr/>
          <p:nvPr/>
        </p:nvSpPr>
        <p:spPr>
          <a:xfrm>
            <a:off x="502920" y="530352"/>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3000"/>
              <a:buFont typeface="Arial"/>
              <a:buNone/>
            </a:pPr>
            <a:r>
              <a:rPr b="1" i="0" lang="en-US" sz="3000" u="none" cap="none" strike="noStrike">
                <a:solidFill>
                  <a:srgbClr val="0B0B0F"/>
                </a:solidFill>
                <a:latin typeface="Arial"/>
                <a:ea typeface="Arial"/>
                <a:cs typeface="Arial"/>
                <a:sym typeface="Arial"/>
              </a:rPr>
              <a:t>Deux enjeux, une seule réponse.</a:t>
            </a:r>
            <a:endParaRPr b="0" i="0" sz="3000" u="none" cap="none" strike="noStrike">
              <a:solidFill>
                <a:schemeClr val="dk1"/>
              </a:solidFill>
              <a:latin typeface="Calibri"/>
              <a:ea typeface="Calibri"/>
              <a:cs typeface="Calibri"/>
              <a:sym typeface="Calibri"/>
            </a:endParaRPr>
          </a:p>
        </p:txBody>
      </p:sp>
      <p:sp>
        <p:nvSpPr>
          <p:cNvPr id="70" name="Google Shape;70;p5"/>
          <p:cNvSpPr/>
          <p:nvPr/>
        </p:nvSpPr>
        <p:spPr>
          <a:xfrm>
            <a:off x="502920" y="1371600"/>
            <a:ext cx="3977640" cy="3383280"/>
          </a:xfrm>
          <a:prstGeom prst="roundRect">
            <a:avLst>
              <a:gd fmla="val 2162" name="adj"/>
            </a:avLst>
          </a:prstGeom>
          <a:solidFill>
            <a:srgbClr val="F4F5FA"/>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777240" y="1645920"/>
            <a:ext cx="475488" cy="475488"/>
          </a:xfrm>
          <a:prstGeom prst="ellipse">
            <a:avLst/>
          </a:prstGeom>
          <a:solidFill>
            <a:srgbClr val="EDEE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2" name="Google Shape;72;p5"/>
          <p:cNvPicPr preferRelativeResize="0"/>
          <p:nvPr/>
        </p:nvPicPr>
        <p:blipFill rotWithShape="1">
          <a:blip r:embed="rId3">
            <a:alphaModFix/>
          </a:blip>
          <a:srcRect b="0" l="0" r="0" t="0"/>
          <a:stretch/>
        </p:blipFill>
        <p:spPr>
          <a:xfrm>
            <a:off x="900867" y="1769547"/>
            <a:ext cx="228234" cy="228234"/>
          </a:xfrm>
          <a:prstGeom prst="rect">
            <a:avLst/>
          </a:prstGeom>
          <a:noFill/>
          <a:ln>
            <a:noFill/>
          </a:ln>
        </p:spPr>
      </p:pic>
      <p:sp>
        <p:nvSpPr>
          <p:cNvPr id="73" name="Google Shape;73;p5"/>
          <p:cNvSpPr/>
          <p:nvPr/>
        </p:nvSpPr>
        <p:spPr>
          <a:xfrm>
            <a:off x="1371600" y="1700784"/>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700"/>
              <a:buFont typeface="Arial"/>
              <a:buNone/>
            </a:pPr>
            <a:r>
              <a:rPr b="1" i="0" lang="en-US" sz="1700" u="none" cap="none" strike="noStrike">
                <a:solidFill>
                  <a:srgbClr val="0B0B0F"/>
                </a:solidFill>
                <a:latin typeface="Arial"/>
                <a:ea typeface="Arial"/>
                <a:cs typeface="Arial"/>
                <a:sym typeface="Arial"/>
              </a:rPr>
              <a:t>L'enjeu légal et souverain</a:t>
            </a:r>
            <a:endParaRPr b="0" i="0" sz="1700" u="none" cap="none" strike="noStrike">
              <a:solidFill>
                <a:schemeClr val="dk1"/>
              </a:solidFill>
              <a:latin typeface="Calibri"/>
              <a:ea typeface="Calibri"/>
              <a:cs typeface="Calibri"/>
              <a:sym typeface="Calibri"/>
            </a:endParaRPr>
          </a:p>
        </p:txBody>
      </p:sp>
      <p:sp>
        <p:nvSpPr>
          <p:cNvPr id="74" name="Google Shape;74;p5"/>
          <p:cNvSpPr/>
          <p:nvPr/>
        </p:nvSpPr>
        <p:spPr>
          <a:xfrm>
            <a:off x="777240" y="2286000"/>
            <a:ext cx="3474720" cy="22860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5A5A66"/>
              </a:buClr>
              <a:buSzPts val="1250"/>
              <a:buFont typeface="Calibri"/>
              <a:buChar char="•"/>
            </a:pPr>
            <a:r>
              <a:rPr b="0" i="0" lang="en-US" sz="1250" u="none" cap="none" strike="noStrike">
                <a:solidFill>
                  <a:srgbClr val="5A5A66"/>
                </a:solidFill>
                <a:latin typeface="Calibri"/>
                <a:ea typeface="Calibri"/>
                <a:cs typeface="Calibri"/>
                <a:sym typeface="Calibri"/>
              </a:rPr>
              <a:t>AI Act européen : obligations de transparence et de gouvernance dès 2026</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5A5A66"/>
              </a:buClr>
              <a:buSzPts val="1250"/>
              <a:buFont typeface="Calibri"/>
              <a:buChar char="•"/>
            </a:pPr>
            <a:r>
              <a:rPr b="0" i="0" lang="en-US" sz="1250" u="none" cap="none" strike="noStrike">
                <a:solidFill>
                  <a:srgbClr val="5A5A66"/>
                </a:solidFill>
                <a:latin typeface="Calibri"/>
                <a:ea typeface="Calibri"/>
                <a:cs typeface="Calibri"/>
                <a:sym typeface="Calibri"/>
              </a:rPr>
              <a:t>RGPD : vos données clients ne peuvent pas partir dans un cloud non maîtrisé</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5A5A66"/>
              </a:buClr>
              <a:buSzPts val="1250"/>
              <a:buFont typeface="Calibri"/>
              <a:buChar char="•"/>
            </a:pPr>
            <a:r>
              <a:rPr b="0" i="0" lang="en-US" sz="1250" u="none" cap="none" strike="noStrike">
                <a:solidFill>
                  <a:srgbClr val="5A5A66"/>
                </a:solidFill>
                <a:latin typeface="Calibri"/>
                <a:ea typeface="Calibri"/>
                <a:cs typeface="Calibri"/>
                <a:sym typeface="Calibri"/>
              </a:rPr>
              <a:t>Secret professionnel : notaires, avocats, experts comptables engagent leur responsabilité</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5A5A66"/>
              </a:buClr>
              <a:buSzPts val="1250"/>
              <a:buFont typeface="Calibri"/>
              <a:buChar char="•"/>
            </a:pPr>
            <a:r>
              <a:rPr b="0" i="0" lang="en-US" sz="1250" u="none" cap="none" strike="noStrike">
                <a:solidFill>
                  <a:srgbClr val="5A5A66"/>
                </a:solidFill>
                <a:latin typeface="Calibri"/>
                <a:ea typeface="Calibri"/>
                <a:cs typeface="Calibri"/>
                <a:sym typeface="Calibri"/>
              </a:rPr>
              <a:t>Dépendance : un seul fournisseur de modèle, c'est un risque stratégique</a:t>
            </a:r>
            <a:endParaRPr b="0" i="0" sz="1250" u="none" cap="none" strike="noStrike">
              <a:solidFill>
                <a:schemeClr val="dk1"/>
              </a:solidFill>
              <a:latin typeface="Calibri"/>
              <a:ea typeface="Calibri"/>
              <a:cs typeface="Calibri"/>
              <a:sym typeface="Calibri"/>
            </a:endParaRPr>
          </a:p>
        </p:txBody>
      </p:sp>
      <p:sp>
        <p:nvSpPr>
          <p:cNvPr id="75" name="Google Shape;75;p5"/>
          <p:cNvSpPr/>
          <p:nvPr/>
        </p:nvSpPr>
        <p:spPr>
          <a:xfrm>
            <a:off x="4663440" y="1371600"/>
            <a:ext cx="3977640" cy="3383280"/>
          </a:xfrm>
          <a:prstGeom prst="roundRect">
            <a:avLst>
              <a:gd fmla="val 2162" name="adj"/>
            </a:avLst>
          </a:prstGeom>
          <a:solidFill>
            <a:srgbClr val="F4F5FA"/>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4937760" y="1645920"/>
            <a:ext cx="475488" cy="475488"/>
          </a:xfrm>
          <a:prstGeom prst="ellipse">
            <a:avLst/>
          </a:prstGeom>
          <a:solidFill>
            <a:srgbClr val="EDEE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7" name="Google Shape;77;p5"/>
          <p:cNvPicPr preferRelativeResize="0"/>
          <p:nvPr/>
        </p:nvPicPr>
        <p:blipFill rotWithShape="1">
          <a:blip r:embed="rId4">
            <a:alphaModFix/>
          </a:blip>
          <a:srcRect b="0" l="0" r="0" t="0"/>
          <a:stretch/>
        </p:blipFill>
        <p:spPr>
          <a:xfrm>
            <a:off x="5061387" y="1769547"/>
            <a:ext cx="228234" cy="228234"/>
          </a:xfrm>
          <a:prstGeom prst="rect">
            <a:avLst/>
          </a:prstGeom>
          <a:noFill/>
          <a:ln>
            <a:noFill/>
          </a:ln>
        </p:spPr>
      </p:pic>
      <p:sp>
        <p:nvSpPr>
          <p:cNvPr id="78" name="Google Shape;78;p5"/>
          <p:cNvSpPr/>
          <p:nvPr/>
        </p:nvSpPr>
        <p:spPr>
          <a:xfrm>
            <a:off x="5532120" y="1700784"/>
            <a:ext cx="3017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700"/>
              <a:buFont typeface="Arial"/>
              <a:buNone/>
            </a:pPr>
            <a:r>
              <a:rPr b="1" i="0" lang="en-US" sz="1700" u="none" cap="none" strike="noStrike">
                <a:solidFill>
                  <a:srgbClr val="0B0B0F"/>
                </a:solidFill>
                <a:latin typeface="Arial"/>
                <a:ea typeface="Arial"/>
                <a:cs typeface="Arial"/>
                <a:sym typeface="Arial"/>
              </a:rPr>
              <a:t>L'enjeu d'efficacité opérationnelle</a:t>
            </a:r>
            <a:endParaRPr b="0" i="0" sz="1700" u="none" cap="none" strike="noStrike">
              <a:solidFill>
                <a:schemeClr val="dk1"/>
              </a:solidFill>
              <a:latin typeface="Calibri"/>
              <a:ea typeface="Calibri"/>
              <a:cs typeface="Calibri"/>
              <a:sym typeface="Calibri"/>
            </a:endParaRPr>
          </a:p>
        </p:txBody>
      </p:sp>
      <p:sp>
        <p:nvSpPr>
          <p:cNvPr id="79" name="Google Shape;79;p5"/>
          <p:cNvSpPr/>
          <p:nvPr/>
        </p:nvSpPr>
        <p:spPr>
          <a:xfrm>
            <a:off x="4937760" y="2286000"/>
            <a:ext cx="3474720" cy="22860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5A5A66"/>
              </a:buClr>
              <a:buSzPts val="1250"/>
              <a:buFont typeface="Calibri"/>
              <a:buChar char="•"/>
            </a:pPr>
            <a:r>
              <a:rPr b="0" i="0" lang="en-US" sz="1250" u="none" cap="none" strike="noStrike">
                <a:solidFill>
                  <a:srgbClr val="5A5A66"/>
                </a:solidFill>
                <a:latin typeface="Calibri"/>
                <a:ea typeface="Calibri"/>
                <a:cs typeface="Calibri"/>
                <a:sym typeface="Calibri"/>
              </a:rPr>
              <a:t>Des heures d'expertise perdues chaque semaine en tâches répétitives et ressaisies</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5A5A66"/>
              </a:buClr>
              <a:buSzPts val="1250"/>
              <a:buFont typeface="Calibri"/>
              <a:buChar char="•"/>
            </a:pPr>
            <a:r>
              <a:rPr b="0" i="0" lang="en-US" sz="1250" u="none" cap="none" strike="noStrike">
                <a:solidFill>
                  <a:srgbClr val="5A5A66"/>
                </a:solidFill>
                <a:latin typeface="Calibri"/>
                <a:ea typeface="Calibri"/>
                <a:cs typeface="Calibri"/>
                <a:sym typeface="Calibri"/>
              </a:rPr>
              <a:t>Des dossiers qui attendent, des clients qui relancent, des équipes sous tension</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5A5A66"/>
              </a:buClr>
              <a:buSzPts val="1250"/>
              <a:buFont typeface="Calibri"/>
              <a:buChar char="•"/>
            </a:pPr>
            <a:r>
              <a:rPr b="0" i="0" lang="en-US" sz="1250" u="none" cap="none" strike="noStrike">
                <a:solidFill>
                  <a:srgbClr val="5A5A66"/>
                </a:solidFill>
                <a:latin typeface="Calibri"/>
                <a:ea typeface="Calibri"/>
                <a:cs typeface="Calibri"/>
                <a:sym typeface="Calibri"/>
              </a:rPr>
              <a:t>Un recrutement difficile sur des profils experts déjà rares</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5A5A66"/>
              </a:buClr>
              <a:buSzPts val="1250"/>
              <a:buFont typeface="Calibri"/>
              <a:buChar char="•"/>
            </a:pPr>
            <a:r>
              <a:rPr b="0" i="0" lang="en-US" sz="1250" u="none" cap="none" strike="noStrike">
                <a:solidFill>
                  <a:srgbClr val="5A5A66"/>
                </a:solidFill>
                <a:latin typeface="Calibri"/>
                <a:ea typeface="Calibri"/>
                <a:cs typeface="Calibri"/>
                <a:sym typeface="Calibri"/>
              </a:rPr>
              <a:t>La concurrence qui s'équipe pendant que vous hésitez</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6"/>
          <p:cNvSpPr/>
          <p:nvPr/>
        </p:nvSpPr>
        <p:spPr>
          <a:xfrm>
            <a:off x="502920" y="292608"/>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1100"/>
              <a:buFont typeface="Arial"/>
              <a:buNone/>
            </a:pPr>
            <a:r>
              <a:rPr b="1" i="0" lang="en-US" sz="1100" u="none" cap="none" strike="noStrike">
                <a:solidFill>
                  <a:srgbClr val="000091"/>
                </a:solidFill>
                <a:latin typeface="Arial"/>
                <a:ea typeface="Arial"/>
                <a:cs typeface="Arial"/>
                <a:sym typeface="Arial"/>
              </a:rPr>
              <a:t>NOTRE CONVICTION</a:t>
            </a:r>
            <a:endParaRPr b="0" i="0" sz="1100" u="none" cap="none" strike="noStrike">
              <a:solidFill>
                <a:schemeClr val="dk1"/>
              </a:solidFill>
              <a:latin typeface="Calibri"/>
              <a:ea typeface="Calibri"/>
              <a:cs typeface="Calibri"/>
              <a:sym typeface="Calibri"/>
            </a:endParaRPr>
          </a:p>
        </p:txBody>
      </p:sp>
      <p:sp>
        <p:nvSpPr>
          <p:cNvPr id="86" name="Google Shape;86;p6"/>
          <p:cNvSpPr/>
          <p:nvPr/>
        </p:nvSpPr>
        <p:spPr>
          <a:xfrm>
            <a:off x="502920" y="530352"/>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3000"/>
              <a:buFont typeface="Arial"/>
              <a:buNone/>
            </a:pPr>
            <a:r>
              <a:rPr b="1" i="0" lang="en-US" sz="3000" u="none" cap="none" strike="noStrike">
                <a:solidFill>
                  <a:srgbClr val="0B0B0F"/>
                </a:solidFill>
                <a:latin typeface="Arial"/>
                <a:ea typeface="Arial"/>
                <a:cs typeface="Arial"/>
                <a:sym typeface="Arial"/>
              </a:rPr>
              <a:t>L'IA n'est pas là pour remplacer. Elle est là pour </a:t>
            </a:r>
            <a:r>
              <a:rPr b="1" lang="en-US" sz="3000">
                <a:solidFill>
                  <a:srgbClr val="0B0B0F"/>
                </a:solidFill>
              </a:rPr>
              <a:t>vous </a:t>
            </a:r>
            <a:r>
              <a:rPr b="1" lang="en-US" sz="3000">
                <a:solidFill>
                  <a:srgbClr val="0B0B0F"/>
                </a:solidFill>
              </a:rPr>
              <a:t>libérer</a:t>
            </a:r>
            <a:r>
              <a:rPr b="1" lang="en-US" sz="3000">
                <a:solidFill>
                  <a:srgbClr val="0B0B0F"/>
                </a:solidFill>
              </a:rPr>
              <a:t> du temps</a:t>
            </a:r>
            <a:r>
              <a:rPr b="1" i="0" lang="en-US" sz="3000" u="none" cap="none" strike="noStrike">
                <a:solidFill>
                  <a:srgbClr val="0B0B0F"/>
                </a:solidFill>
                <a:latin typeface="Arial"/>
                <a:ea typeface="Arial"/>
                <a:cs typeface="Arial"/>
                <a:sym typeface="Arial"/>
              </a:rPr>
              <a:t>.</a:t>
            </a:r>
            <a:endParaRPr b="0" i="0" sz="3000" u="none" cap="none" strike="noStrike">
              <a:solidFill>
                <a:schemeClr val="dk1"/>
              </a:solidFill>
              <a:latin typeface="Calibri"/>
              <a:ea typeface="Calibri"/>
              <a:cs typeface="Calibri"/>
              <a:sym typeface="Calibri"/>
            </a:endParaRPr>
          </a:p>
        </p:txBody>
      </p:sp>
      <p:sp>
        <p:nvSpPr>
          <p:cNvPr id="87" name="Google Shape;87;p6"/>
          <p:cNvSpPr/>
          <p:nvPr/>
        </p:nvSpPr>
        <p:spPr>
          <a:xfrm>
            <a:off x="502920" y="1371600"/>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400"/>
              <a:buFont typeface="Calibri"/>
              <a:buNone/>
            </a:pPr>
            <a:r>
              <a:rPr b="0" i="0" lang="en-US" sz="1400" u="none" cap="none" strike="noStrike">
                <a:solidFill>
                  <a:srgbClr val="5A5A66"/>
                </a:solidFill>
                <a:latin typeface="Calibri"/>
                <a:ea typeface="Calibri"/>
                <a:cs typeface="Calibri"/>
                <a:sym typeface="Calibri"/>
              </a:rPr>
              <a:t>Nous refusons le discours de la substitution. Un agent IA bien conçu prend en charge le répétitif pour que vos experts se consacrent à ce qui exige leur jugement, leur relation client et leur responsabilité. C'est un levier pour l'humain, jamais un plan social déguisé.</a:t>
            </a:r>
            <a:endParaRPr b="0" i="0" sz="1400" u="none" cap="none" strike="noStrike">
              <a:solidFill>
                <a:schemeClr val="dk1"/>
              </a:solidFill>
              <a:latin typeface="Calibri"/>
              <a:ea typeface="Calibri"/>
              <a:cs typeface="Calibri"/>
              <a:sym typeface="Calibri"/>
            </a:endParaRPr>
          </a:p>
        </p:txBody>
      </p:sp>
      <p:sp>
        <p:nvSpPr>
          <p:cNvPr id="88" name="Google Shape;88;p6"/>
          <p:cNvSpPr/>
          <p:nvPr/>
        </p:nvSpPr>
        <p:spPr>
          <a:xfrm>
            <a:off x="502920" y="2286000"/>
            <a:ext cx="475488" cy="475488"/>
          </a:xfrm>
          <a:prstGeom prst="ellipse">
            <a:avLst/>
          </a:prstGeom>
          <a:solidFill>
            <a:srgbClr val="EDEE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9" name="Google Shape;89;p6"/>
          <p:cNvPicPr preferRelativeResize="0"/>
          <p:nvPr/>
        </p:nvPicPr>
        <p:blipFill rotWithShape="1">
          <a:blip r:embed="rId3">
            <a:alphaModFix/>
          </a:blip>
          <a:srcRect b="0" l="0" r="0" t="0"/>
          <a:stretch/>
        </p:blipFill>
        <p:spPr>
          <a:xfrm>
            <a:off x="626547" y="2409627"/>
            <a:ext cx="228234" cy="228234"/>
          </a:xfrm>
          <a:prstGeom prst="rect">
            <a:avLst/>
          </a:prstGeom>
          <a:noFill/>
          <a:ln>
            <a:noFill/>
          </a:ln>
        </p:spPr>
      </p:pic>
      <p:sp>
        <p:nvSpPr>
          <p:cNvPr id="90" name="Google Shape;90;p6"/>
          <p:cNvSpPr/>
          <p:nvPr/>
        </p:nvSpPr>
        <p:spPr>
          <a:xfrm>
            <a:off x="1188720" y="2267712"/>
            <a:ext cx="31089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450"/>
              <a:buFont typeface="Arial"/>
              <a:buNone/>
            </a:pPr>
            <a:r>
              <a:rPr b="1" i="0" lang="en-US" sz="1450" u="none" cap="none" strike="noStrike">
                <a:solidFill>
                  <a:srgbClr val="0B0B0F"/>
                </a:solidFill>
                <a:latin typeface="Arial"/>
                <a:ea typeface="Arial"/>
                <a:cs typeface="Arial"/>
                <a:sym typeface="Arial"/>
              </a:rPr>
              <a:t>L'humain décide, l'agent exécute</a:t>
            </a:r>
            <a:endParaRPr b="0" i="0" sz="1450" u="none" cap="none" strike="noStrike">
              <a:solidFill>
                <a:schemeClr val="dk1"/>
              </a:solidFill>
              <a:latin typeface="Calibri"/>
              <a:ea typeface="Calibri"/>
              <a:cs typeface="Calibri"/>
              <a:sym typeface="Calibri"/>
            </a:endParaRPr>
          </a:p>
        </p:txBody>
      </p:sp>
      <p:sp>
        <p:nvSpPr>
          <p:cNvPr id="91" name="Google Shape;91;p6"/>
          <p:cNvSpPr/>
          <p:nvPr/>
        </p:nvSpPr>
        <p:spPr>
          <a:xfrm>
            <a:off x="4434840" y="2212848"/>
            <a:ext cx="4206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200"/>
              <a:buFont typeface="Calibri"/>
              <a:buNone/>
            </a:pPr>
            <a:r>
              <a:rPr b="0" i="0" lang="en-US" sz="1200" u="none" cap="none" strike="noStrike">
                <a:solidFill>
                  <a:srgbClr val="5A5A66"/>
                </a:solidFill>
                <a:latin typeface="Calibri"/>
                <a:ea typeface="Calibri"/>
                <a:cs typeface="Calibri"/>
                <a:sym typeface="Calibri"/>
              </a:rPr>
              <a:t>Chaque agent travaille sous supervision humaine. Les décisions engageantes restent entre les mains de vos équipes.</a:t>
            </a:r>
            <a:endParaRPr b="0" i="0" sz="1200" u="none" cap="none" strike="noStrike">
              <a:solidFill>
                <a:schemeClr val="dk1"/>
              </a:solidFill>
              <a:latin typeface="Calibri"/>
              <a:ea typeface="Calibri"/>
              <a:cs typeface="Calibri"/>
              <a:sym typeface="Calibri"/>
            </a:endParaRPr>
          </a:p>
        </p:txBody>
      </p:sp>
      <p:sp>
        <p:nvSpPr>
          <p:cNvPr id="92" name="Google Shape;92;p6"/>
          <p:cNvSpPr/>
          <p:nvPr/>
        </p:nvSpPr>
        <p:spPr>
          <a:xfrm>
            <a:off x="502920" y="3154680"/>
            <a:ext cx="475488" cy="475488"/>
          </a:xfrm>
          <a:prstGeom prst="ellipse">
            <a:avLst/>
          </a:prstGeom>
          <a:solidFill>
            <a:srgbClr val="EDEE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3" name="Google Shape;93;p6"/>
          <p:cNvPicPr preferRelativeResize="0"/>
          <p:nvPr/>
        </p:nvPicPr>
        <p:blipFill rotWithShape="1">
          <a:blip r:embed="rId4">
            <a:alphaModFix/>
          </a:blip>
          <a:srcRect b="0" l="0" r="0" t="0"/>
          <a:stretch/>
        </p:blipFill>
        <p:spPr>
          <a:xfrm>
            <a:off x="626547" y="3278307"/>
            <a:ext cx="228234" cy="228234"/>
          </a:xfrm>
          <a:prstGeom prst="rect">
            <a:avLst/>
          </a:prstGeom>
          <a:noFill/>
          <a:ln>
            <a:noFill/>
          </a:ln>
        </p:spPr>
      </p:pic>
      <p:sp>
        <p:nvSpPr>
          <p:cNvPr id="94" name="Google Shape;94;p6"/>
          <p:cNvSpPr/>
          <p:nvPr/>
        </p:nvSpPr>
        <p:spPr>
          <a:xfrm>
            <a:off x="1188720" y="3136392"/>
            <a:ext cx="31089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450"/>
              <a:buFont typeface="Arial"/>
              <a:buNone/>
            </a:pPr>
            <a:r>
              <a:rPr b="1" i="0" lang="en-US" sz="1450" u="none" cap="none" strike="noStrike">
                <a:solidFill>
                  <a:srgbClr val="0B0B0F"/>
                </a:solidFill>
                <a:latin typeface="Arial"/>
                <a:ea typeface="Arial"/>
                <a:cs typeface="Arial"/>
                <a:sym typeface="Arial"/>
              </a:rPr>
              <a:t>L'adoption avant la technologie</a:t>
            </a:r>
            <a:endParaRPr b="0" i="0" sz="1450" u="none" cap="none" strike="noStrike">
              <a:solidFill>
                <a:schemeClr val="dk1"/>
              </a:solidFill>
              <a:latin typeface="Calibri"/>
              <a:ea typeface="Calibri"/>
              <a:cs typeface="Calibri"/>
              <a:sym typeface="Calibri"/>
            </a:endParaRPr>
          </a:p>
        </p:txBody>
      </p:sp>
      <p:sp>
        <p:nvSpPr>
          <p:cNvPr id="95" name="Google Shape;95;p6"/>
          <p:cNvSpPr/>
          <p:nvPr/>
        </p:nvSpPr>
        <p:spPr>
          <a:xfrm>
            <a:off x="4434840" y="3081528"/>
            <a:ext cx="4206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200"/>
              <a:buFont typeface="Calibri"/>
              <a:buNone/>
            </a:pPr>
            <a:r>
              <a:rPr b="0" i="0" lang="en-US" sz="1200" u="none" cap="none" strike="noStrike">
                <a:solidFill>
                  <a:srgbClr val="5A5A66"/>
                </a:solidFill>
                <a:latin typeface="Calibri"/>
                <a:ea typeface="Calibri"/>
                <a:cs typeface="Calibri"/>
                <a:sym typeface="Calibri"/>
              </a:rPr>
              <a:t>Nous formons et embarquons vos collaborateurs. Un outil que personne n'utilise est un coût, pas un investissement.</a:t>
            </a:r>
            <a:endParaRPr b="0" i="0" sz="1200" u="none" cap="none" strike="noStrike">
              <a:solidFill>
                <a:schemeClr val="dk1"/>
              </a:solidFill>
              <a:latin typeface="Calibri"/>
              <a:ea typeface="Calibri"/>
              <a:cs typeface="Calibri"/>
              <a:sym typeface="Calibri"/>
            </a:endParaRPr>
          </a:p>
        </p:txBody>
      </p:sp>
      <p:sp>
        <p:nvSpPr>
          <p:cNvPr id="96" name="Google Shape;96;p6"/>
          <p:cNvSpPr/>
          <p:nvPr/>
        </p:nvSpPr>
        <p:spPr>
          <a:xfrm>
            <a:off x="502920" y="4023360"/>
            <a:ext cx="475488" cy="475488"/>
          </a:xfrm>
          <a:prstGeom prst="ellipse">
            <a:avLst/>
          </a:prstGeom>
          <a:solidFill>
            <a:srgbClr val="EDEE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7" name="Google Shape;97;p6"/>
          <p:cNvPicPr preferRelativeResize="0"/>
          <p:nvPr/>
        </p:nvPicPr>
        <p:blipFill rotWithShape="1">
          <a:blip r:embed="rId5">
            <a:alphaModFix/>
          </a:blip>
          <a:srcRect b="0" l="0" r="0" t="0"/>
          <a:stretch/>
        </p:blipFill>
        <p:spPr>
          <a:xfrm>
            <a:off x="626547" y="4146987"/>
            <a:ext cx="228234" cy="228234"/>
          </a:xfrm>
          <a:prstGeom prst="rect">
            <a:avLst/>
          </a:prstGeom>
          <a:noFill/>
          <a:ln>
            <a:noFill/>
          </a:ln>
        </p:spPr>
      </p:pic>
      <p:sp>
        <p:nvSpPr>
          <p:cNvPr id="98" name="Google Shape;98;p6"/>
          <p:cNvSpPr/>
          <p:nvPr/>
        </p:nvSpPr>
        <p:spPr>
          <a:xfrm>
            <a:off x="1188720" y="4005072"/>
            <a:ext cx="31089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450"/>
              <a:buFont typeface="Arial"/>
              <a:buNone/>
            </a:pPr>
            <a:r>
              <a:rPr b="1" i="0" lang="en-US" sz="1450" u="none" cap="none" strike="noStrike">
                <a:solidFill>
                  <a:srgbClr val="0B0B0F"/>
                </a:solidFill>
                <a:latin typeface="Arial"/>
                <a:ea typeface="Arial"/>
                <a:cs typeface="Arial"/>
                <a:sym typeface="Arial"/>
              </a:rPr>
              <a:t>Le temps rendu, notre vrai KPI</a:t>
            </a:r>
            <a:endParaRPr b="0" i="0" sz="1450" u="none" cap="none" strike="noStrike">
              <a:solidFill>
                <a:schemeClr val="dk1"/>
              </a:solidFill>
              <a:latin typeface="Calibri"/>
              <a:ea typeface="Calibri"/>
              <a:cs typeface="Calibri"/>
              <a:sym typeface="Calibri"/>
            </a:endParaRPr>
          </a:p>
        </p:txBody>
      </p:sp>
      <p:sp>
        <p:nvSpPr>
          <p:cNvPr id="99" name="Google Shape;99;p6"/>
          <p:cNvSpPr/>
          <p:nvPr/>
        </p:nvSpPr>
        <p:spPr>
          <a:xfrm>
            <a:off x="4434840" y="3950208"/>
            <a:ext cx="4206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200"/>
              <a:buFont typeface="Calibri"/>
              <a:buNone/>
            </a:pPr>
            <a:r>
              <a:rPr b="0" i="0" lang="en-US" sz="1200" u="none" cap="none" strike="noStrike">
                <a:solidFill>
                  <a:srgbClr val="5A5A66"/>
                </a:solidFill>
                <a:latin typeface="Calibri"/>
                <a:ea typeface="Calibri"/>
                <a:cs typeface="Calibri"/>
                <a:sym typeface="Calibri"/>
              </a:rPr>
              <a:t>Nous mesurons les heures d'expertise libérées et réinvesties dans le conseil, la relation client et le développement.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7"/>
          <p:cNvSpPr/>
          <p:nvPr/>
        </p:nvSpPr>
        <p:spPr>
          <a:xfrm>
            <a:off x="502920" y="292608"/>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1100"/>
              <a:buFont typeface="Arial"/>
              <a:buNone/>
            </a:pPr>
            <a:r>
              <a:rPr b="1" i="0" lang="en-US" sz="1100" u="none" cap="none" strike="noStrike">
                <a:solidFill>
                  <a:srgbClr val="000091"/>
                </a:solidFill>
                <a:latin typeface="Arial"/>
                <a:ea typeface="Arial"/>
                <a:cs typeface="Arial"/>
                <a:sym typeface="Arial"/>
              </a:rPr>
              <a:t>POUR QUI</a:t>
            </a:r>
            <a:endParaRPr b="0" i="0" sz="1100" u="none" cap="none" strike="noStrike">
              <a:solidFill>
                <a:schemeClr val="dk1"/>
              </a:solidFill>
              <a:latin typeface="Calibri"/>
              <a:ea typeface="Calibri"/>
              <a:cs typeface="Calibri"/>
              <a:sym typeface="Calibri"/>
            </a:endParaRPr>
          </a:p>
        </p:txBody>
      </p:sp>
      <p:sp>
        <p:nvSpPr>
          <p:cNvPr id="106" name="Google Shape;106;p7"/>
          <p:cNvSpPr/>
          <p:nvPr/>
        </p:nvSpPr>
        <p:spPr>
          <a:xfrm>
            <a:off x="502920" y="530352"/>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3000"/>
              <a:buFont typeface="Arial"/>
              <a:buNone/>
            </a:pPr>
            <a:r>
              <a:rPr b="1" i="0" lang="en-US" sz="3000" u="none" cap="none" strike="noStrike">
                <a:solidFill>
                  <a:srgbClr val="0B0B0F"/>
                </a:solidFill>
                <a:latin typeface="Arial"/>
                <a:ea typeface="Arial"/>
                <a:cs typeface="Arial"/>
                <a:sym typeface="Arial"/>
              </a:rPr>
              <a:t>Les métiers spécialisés, là </a:t>
            </a:r>
            <a:r>
              <a:rPr b="1" i="0" lang="en-US" sz="3000" u="none" cap="none" strike="noStrike">
                <a:solidFill>
                  <a:srgbClr val="0B0B0F"/>
                </a:solidFill>
                <a:latin typeface="Arial"/>
                <a:ea typeface="Arial"/>
                <a:cs typeface="Arial"/>
                <a:sym typeface="Arial"/>
              </a:rPr>
              <a:t>où</a:t>
            </a:r>
            <a:r>
              <a:rPr b="1" i="0" lang="en-US" sz="3000" u="none" cap="none" strike="noStrike">
                <a:solidFill>
                  <a:srgbClr val="0B0B0F"/>
                </a:solidFill>
                <a:latin typeface="Arial"/>
                <a:ea typeface="Arial"/>
                <a:cs typeface="Arial"/>
                <a:sym typeface="Arial"/>
              </a:rPr>
              <a:t> l'IA générique échoue.</a:t>
            </a:r>
            <a:endParaRPr b="0" i="0" sz="3000" u="none" cap="none" strike="noStrike">
              <a:solidFill>
                <a:schemeClr val="dk1"/>
              </a:solidFill>
              <a:latin typeface="Calibri"/>
              <a:ea typeface="Calibri"/>
              <a:cs typeface="Calibri"/>
              <a:sym typeface="Calibri"/>
            </a:endParaRPr>
          </a:p>
        </p:txBody>
      </p:sp>
      <p:sp>
        <p:nvSpPr>
          <p:cNvPr id="107" name="Google Shape;107;p7"/>
          <p:cNvSpPr/>
          <p:nvPr/>
        </p:nvSpPr>
        <p:spPr>
          <a:xfrm>
            <a:off x="502920" y="1325880"/>
            <a:ext cx="81381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350"/>
              <a:buFont typeface="Calibri"/>
              <a:buNone/>
            </a:pPr>
            <a:r>
              <a:rPr b="0" i="0" lang="en-US" sz="1350" u="none" cap="none" strike="noStrike">
                <a:solidFill>
                  <a:srgbClr val="5A5A66"/>
                </a:solidFill>
                <a:latin typeface="Calibri"/>
                <a:ea typeface="Calibri"/>
                <a:cs typeface="Calibri"/>
                <a:sym typeface="Calibri"/>
              </a:rPr>
              <a:t>Nous ne servons pas tout le monde. Nous servons les professions où la donnée est sensible, le cadre réglementaire strict et l'expertise chère. Là où un ChatGPT ne suffira jamais.</a:t>
            </a:r>
            <a:endParaRPr b="0" i="0" sz="1350" u="none" cap="none" strike="noStrike">
              <a:solidFill>
                <a:schemeClr val="dk1"/>
              </a:solidFill>
              <a:latin typeface="Calibri"/>
              <a:ea typeface="Calibri"/>
              <a:cs typeface="Calibri"/>
              <a:sym typeface="Calibri"/>
            </a:endParaRPr>
          </a:p>
        </p:txBody>
      </p:sp>
      <p:sp>
        <p:nvSpPr>
          <p:cNvPr id="108" name="Google Shape;108;p7"/>
          <p:cNvSpPr/>
          <p:nvPr/>
        </p:nvSpPr>
        <p:spPr>
          <a:xfrm>
            <a:off x="502920" y="2057400"/>
            <a:ext cx="2606040" cy="1234440"/>
          </a:xfrm>
          <a:prstGeom prst="roundRect">
            <a:avLst>
              <a:gd fmla="val 5185" name="adj"/>
            </a:avLst>
          </a:prstGeom>
          <a:solidFill>
            <a:srgbClr val="F4F5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667512" y="2203704"/>
            <a:ext cx="384048" cy="38404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0" name="Google Shape;110;p7"/>
          <p:cNvPicPr preferRelativeResize="0"/>
          <p:nvPr/>
        </p:nvPicPr>
        <p:blipFill rotWithShape="1">
          <a:blip r:embed="rId4">
            <a:alphaModFix/>
          </a:blip>
          <a:srcRect b="0" l="0" r="0" t="0"/>
          <a:stretch/>
        </p:blipFill>
        <p:spPr>
          <a:xfrm>
            <a:off x="767364" y="2303556"/>
            <a:ext cx="184343" cy="184343"/>
          </a:xfrm>
          <a:prstGeom prst="rect">
            <a:avLst/>
          </a:prstGeom>
          <a:noFill/>
          <a:ln>
            <a:noFill/>
          </a:ln>
        </p:spPr>
      </p:pic>
      <p:sp>
        <p:nvSpPr>
          <p:cNvPr id="111" name="Google Shape;111;p7"/>
          <p:cNvSpPr/>
          <p:nvPr/>
        </p:nvSpPr>
        <p:spPr>
          <a:xfrm>
            <a:off x="1161288" y="2148840"/>
            <a:ext cx="1874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250"/>
              <a:buFont typeface="Arial"/>
              <a:buNone/>
            </a:pPr>
            <a:r>
              <a:rPr b="1" i="0" lang="en-US" sz="1250" u="none" cap="none" strike="noStrike">
                <a:solidFill>
                  <a:srgbClr val="0B0B0F"/>
                </a:solidFill>
                <a:latin typeface="Arial"/>
                <a:ea typeface="Arial"/>
                <a:cs typeface="Arial"/>
                <a:sym typeface="Arial"/>
              </a:rPr>
              <a:t>Notariat et juridique</a:t>
            </a:r>
            <a:endParaRPr b="0" i="0" sz="1250" u="none" cap="none" strike="noStrike">
              <a:solidFill>
                <a:schemeClr val="dk1"/>
              </a:solidFill>
              <a:latin typeface="Calibri"/>
              <a:ea typeface="Calibri"/>
              <a:cs typeface="Calibri"/>
              <a:sym typeface="Calibri"/>
            </a:endParaRPr>
          </a:p>
        </p:txBody>
      </p:sp>
      <p:sp>
        <p:nvSpPr>
          <p:cNvPr id="112" name="Google Shape;112;p7"/>
          <p:cNvSpPr/>
          <p:nvPr/>
        </p:nvSpPr>
        <p:spPr>
          <a:xfrm>
            <a:off x="667512" y="2715768"/>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050"/>
              <a:buFont typeface="Calibri"/>
              <a:buNone/>
            </a:pPr>
            <a:r>
              <a:rPr b="0" i="0" lang="en-US" sz="1050" u="none" cap="none" strike="noStrike">
                <a:solidFill>
                  <a:srgbClr val="5A5A66"/>
                </a:solidFill>
                <a:latin typeface="Calibri"/>
                <a:ea typeface="Calibri"/>
                <a:cs typeface="Calibri"/>
                <a:sym typeface="Calibri"/>
              </a:rPr>
              <a:t>Analyse d'actes, préparation de dossiers, veille</a:t>
            </a:r>
            <a:endParaRPr b="0" i="0" sz="1050" u="none" cap="none" strike="noStrike">
              <a:solidFill>
                <a:schemeClr val="dk1"/>
              </a:solidFill>
              <a:latin typeface="Calibri"/>
              <a:ea typeface="Calibri"/>
              <a:cs typeface="Calibri"/>
              <a:sym typeface="Calibri"/>
            </a:endParaRPr>
          </a:p>
        </p:txBody>
      </p:sp>
      <p:sp>
        <p:nvSpPr>
          <p:cNvPr id="113" name="Google Shape;113;p7"/>
          <p:cNvSpPr/>
          <p:nvPr/>
        </p:nvSpPr>
        <p:spPr>
          <a:xfrm>
            <a:off x="3291840" y="2057400"/>
            <a:ext cx="2606040" cy="1234440"/>
          </a:xfrm>
          <a:prstGeom prst="roundRect">
            <a:avLst>
              <a:gd fmla="val 5185" name="adj"/>
            </a:avLst>
          </a:prstGeom>
          <a:solidFill>
            <a:srgbClr val="F4F5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3456432" y="2203704"/>
            <a:ext cx="384048" cy="38404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5" name="Google Shape;115;p7"/>
          <p:cNvPicPr preferRelativeResize="0"/>
          <p:nvPr/>
        </p:nvPicPr>
        <p:blipFill rotWithShape="1">
          <a:blip r:embed="rId5">
            <a:alphaModFix/>
          </a:blip>
          <a:srcRect b="0" l="0" r="0" t="0"/>
          <a:stretch/>
        </p:blipFill>
        <p:spPr>
          <a:xfrm>
            <a:off x="3556284" y="2303556"/>
            <a:ext cx="184343" cy="184343"/>
          </a:xfrm>
          <a:prstGeom prst="rect">
            <a:avLst/>
          </a:prstGeom>
          <a:noFill/>
          <a:ln>
            <a:noFill/>
          </a:ln>
        </p:spPr>
      </p:pic>
      <p:sp>
        <p:nvSpPr>
          <p:cNvPr id="116" name="Google Shape;116;p7"/>
          <p:cNvSpPr/>
          <p:nvPr/>
        </p:nvSpPr>
        <p:spPr>
          <a:xfrm>
            <a:off x="3950208" y="2148840"/>
            <a:ext cx="1874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250"/>
              <a:buFont typeface="Arial"/>
              <a:buNone/>
            </a:pPr>
            <a:r>
              <a:rPr b="1" i="0" lang="en-US" sz="1250" u="none" cap="none" strike="noStrike">
                <a:solidFill>
                  <a:srgbClr val="0B0B0F"/>
                </a:solidFill>
                <a:latin typeface="Arial"/>
                <a:ea typeface="Arial"/>
                <a:cs typeface="Arial"/>
                <a:sym typeface="Arial"/>
              </a:rPr>
              <a:t>Expertise comptable</a:t>
            </a:r>
            <a:endParaRPr b="0" i="0" sz="1250" u="none" cap="none" strike="noStrike">
              <a:solidFill>
                <a:schemeClr val="dk1"/>
              </a:solidFill>
              <a:latin typeface="Calibri"/>
              <a:ea typeface="Calibri"/>
              <a:cs typeface="Calibri"/>
              <a:sym typeface="Calibri"/>
            </a:endParaRPr>
          </a:p>
        </p:txBody>
      </p:sp>
      <p:sp>
        <p:nvSpPr>
          <p:cNvPr id="117" name="Google Shape;117;p7"/>
          <p:cNvSpPr/>
          <p:nvPr/>
        </p:nvSpPr>
        <p:spPr>
          <a:xfrm>
            <a:off x="3456432" y="2715768"/>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050"/>
              <a:buFont typeface="Calibri"/>
              <a:buNone/>
            </a:pPr>
            <a:r>
              <a:rPr b="0" i="0" lang="en-US" sz="1050" u="none" cap="none" strike="noStrike">
                <a:solidFill>
                  <a:srgbClr val="5A5A66"/>
                </a:solidFill>
                <a:latin typeface="Calibri"/>
                <a:ea typeface="Calibri"/>
                <a:cs typeface="Calibri"/>
                <a:sym typeface="Calibri"/>
              </a:rPr>
              <a:t>Collecte, rapprochements, production de liasses</a:t>
            </a:r>
            <a:endParaRPr b="0" i="0" sz="1050" u="none" cap="none" strike="noStrike">
              <a:solidFill>
                <a:schemeClr val="dk1"/>
              </a:solidFill>
              <a:latin typeface="Calibri"/>
              <a:ea typeface="Calibri"/>
              <a:cs typeface="Calibri"/>
              <a:sym typeface="Calibri"/>
            </a:endParaRPr>
          </a:p>
        </p:txBody>
      </p:sp>
      <p:sp>
        <p:nvSpPr>
          <p:cNvPr id="118" name="Google Shape;118;p7"/>
          <p:cNvSpPr/>
          <p:nvPr/>
        </p:nvSpPr>
        <p:spPr>
          <a:xfrm>
            <a:off x="6080760" y="2057400"/>
            <a:ext cx="2606040" cy="1234440"/>
          </a:xfrm>
          <a:prstGeom prst="roundRect">
            <a:avLst>
              <a:gd fmla="val 5185" name="adj"/>
            </a:avLst>
          </a:prstGeom>
          <a:solidFill>
            <a:srgbClr val="F4F5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a:off x="6245352" y="2203704"/>
            <a:ext cx="384048" cy="38404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0" name="Google Shape;120;p7"/>
          <p:cNvPicPr preferRelativeResize="0"/>
          <p:nvPr/>
        </p:nvPicPr>
        <p:blipFill rotWithShape="1">
          <a:blip r:embed="rId6">
            <a:alphaModFix/>
          </a:blip>
          <a:srcRect b="0" l="0" r="0" t="0"/>
          <a:stretch/>
        </p:blipFill>
        <p:spPr>
          <a:xfrm>
            <a:off x="6345204" y="2303556"/>
            <a:ext cx="184343" cy="184343"/>
          </a:xfrm>
          <a:prstGeom prst="rect">
            <a:avLst/>
          </a:prstGeom>
          <a:noFill/>
          <a:ln>
            <a:noFill/>
          </a:ln>
        </p:spPr>
      </p:pic>
      <p:sp>
        <p:nvSpPr>
          <p:cNvPr id="121" name="Google Shape;121;p7"/>
          <p:cNvSpPr/>
          <p:nvPr/>
        </p:nvSpPr>
        <p:spPr>
          <a:xfrm>
            <a:off x="6739128" y="2148840"/>
            <a:ext cx="1874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250"/>
              <a:buFont typeface="Arial"/>
              <a:buNone/>
            </a:pPr>
            <a:r>
              <a:rPr b="1" i="0" lang="en-US" sz="1250" u="none" cap="none" strike="noStrike">
                <a:solidFill>
                  <a:srgbClr val="0B0B0F"/>
                </a:solidFill>
                <a:latin typeface="Arial"/>
                <a:ea typeface="Arial"/>
                <a:cs typeface="Arial"/>
                <a:sym typeface="Arial"/>
              </a:rPr>
              <a:t>Courtage et assurance</a:t>
            </a:r>
            <a:endParaRPr b="0" i="0" sz="1250" u="none" cap="none" strike="noStrike">
              <a:solidFill>
                <a:schemeClr val="dk1"/>
              </a:solidFill>
              <a:latin typeface="Calibri"/>
              <a:ea typeface="Calibri"/>
              <a:cs typeface="Calibri"/>
              <a:sym typeface="Calibri"/>
            </a:endParaRPr>
          </a:p>
        </p:txBody>
      </p:sp>
      <p:sp>
        <p:nvSpPr>
          <p:cNvPr id="122" name="Google Shape;122;p7"/>
          <p:cNvSpPr/>
          <p:nvPr/>
        </p:nvSpPr>
        <p:spPr>
          <a:xfrm>
            <a:off x="6245352" y="2715768"/>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050"/>
              <a:buFont typeface="Calibri"/>
              <a:buNone/>
            </a:pPr>
            <a:r>
              <a:rPr b="0" i="0" lang="en-US" sz="1050" u="none" cap="none" strike="noStrike">
                <a:solidFill>
                  <a:srgbClr val="5A5A66"/>
                </a:solidFill>
                <a:latin typeface="Calibri"/>
                <a:ea typeface="Calibri"/>
                <a:cs typeface="Calibri"/>
                <a:sym typeface="Calibri"/>
              </a:rPr>
              <a:t>Instruction, comparaison de garanties, sinistres</a:t>
            </a:r>
            <a:endParaRPr b="0" i="0" sz="1050" u="none" cap="none" strike="noStrike">
              <a:solidFill>
                <a:schemeClr val="dk1"/>
              </a:solidFill>
              <a:latin typeface="Calibri"/>
              <a:ea typeface="Calibri"/>
              <a:cs typeface="Calibri"/>
              <a:sym typeface="Calibri"/>
            </a:endParaRPr>
          </a:p>
        </p:txBody>
      </p:sp>
      <p:sp>
        <p:nvSpPr>
          <p:cNvPr id="123" name="Google Shape;123;p7"/>
          <p:cNvSpPr/>
          <p:nvPr/>
        </p:nvSpPr>
        <p:spPr>
          <a:xfrm>
            <a:off x="502920" y="3474720"/>
            <a:ext cx="2606040" cy="1234440"/>
          </a:xfrm>
          <a:prstGeom prst="roundRect">
            <a:avLst>
              <a:gd fmla="val 5185" name="adj"/>
            </a:avLst>
          </a:prstGeom>
          <a:solidFill>
            <a:srgbClr val="F4F5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
          <p:cNvSpPr/>
          <p:nvPr/>
        </p:nvSpPr>
        <p:spPr>
          <a:xfrm>
            <a:off x="667512" y="3621024"/>
            <a:ext cx="384048" cy="38404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5" name="Google Shape;125;p7"/>
          <p:cNvPicPr preferRelativeResize="0"/>
          <p:nvPr/>
        </p:nvPicPr>
        <p:blipFill rotWithShape="1">
          <a:blip r:embed="rId7">
            <a:alphaModFix/>
          </a:blip>
          <a:srcRect b="0" l="0" r="0" t="0"/>
          <a:stretch/>
        </p:blipFill>
        <p:spPr>
          <a:xfrm>
            <a:off x="767364" y="3720876"/>
            <a:ext cx="184343" cy="184343"/>
          </a:xfrm>
          <a:prstGeom prst="rect">
            <a:avLst/>
          </a:prstGeom>
          <a:noFill/>
          <a:ln>
            <a:noFill/>
          </a:ln>
        </p:spPr>
      </p:pic>
      <p:sp>
        <p:nvSpPr>
          <p:cNvPr id="126" name="Google Shape;126;p7"/>
          <p:cNvSpPr/>
          <p:nvPr/>
        </p:nvSpPr>
        <p:spPr>
          <a:xfrm>
            <a:off x="1161288" y="3566160"/>
            <a:ext cx="1874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250"/>
              <a:buFont typeface="Arial"/>
              <a:buNone/>
            </a:pPr>
            <a:r>
              <a:rPr b="1" i="0" lang="en-US" sz="1250" u="none" cap="none" strike="noStrike">
                <a:solidFill>
                  <a:srgbClr val="0B0B0F"/>
                </a:solidFill>
                <a:latin typeface="Arial"/>
                <a:ea typeface="Arial"/>
                <a:cs typeface="Arial"/>
                <a:sym typeface="Arial"/>
              </a:rPr>
              <a:t>Gestion de patrimoine</a:t>
            </a:r>
            <a:endParaRPr b="0" i="0" sz="1250" u="none" cap="none" strike="noStrike">
              <a:solidFill>
                <a:schemeClr val="dk1"/>
              </a:solidFill>
              <a:latin typeface="Calibri"/>
              <a:ea typeface="Calibri"/>
              <a:cs typeface="Calibri"/>
              <a:sym typeface="Calibri"/>
            </a:endParaRPr>
          </a:p>
        </p:txBody>
      </p:sp>
      <p:sp>
        <p:nvSpPr>
          <p:cNvPr id="127" name="Google Shape;127;p7"/>
          <p:cNvSpPr/>
          <p:nvPr/>
        </p:nvSpPr>
        <p:spPr>
          <a:xfrm>
            <a:off x="667512" y="4133088"/>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050"/>
              <a:buFont typeface="Calibri"/>
              <a:buNone/>
            </a:pPr>
            <a:r>
              <a:rPr b="0" i="0" lang="en-US" sz="1050" u="none" cap="none" strike="noStrike">
                <a:solidFill>
                  <a:srgbClr val="5A5A66"/>
                </a:solidFill>
                <a:latin typeface="Calibri"/>
                <a:ea typeface="Calibri"/>
                <a:cs typeface="Calibri"/>
                <a:sym typeface="Calibri"/>
              </a:rPr>
              <a:t>Agrégation documentaire, reporting, conformité</a:t>
            </a:r>
            <a:endParaRPr b="0" i="0" sz="1050" u="none" cap="none" strike="noStrike">
              <a:solidFill>
                <a:schemeClr val="dk1"/>
              </a:solidFill>
              <a:latin typeface="Calibri"/>
              <a:ea typeface="Calibri"/>
              <a:cs typeface="Calibri"/>
              <a:sym typeface="Calibri"/>
            </a:endParaRPr>
          </a:p>
        </p:txBody>
      </p:sp>
      <p:sp>
        <p:nvSpPr>
          <p:cNvPr id="128" name="Google Shape;128;p7"/>
          <p:cNvSpPr/>
          <p:nvPr/>
        </p:nvSpPr>
        <p:spPr>
          <a:xfrm>
            <a:off x="3291840" y="3474720"/>
            <a:ext cx="2606040" cy="1234440"/>
          </a:xfrm>
          <a:prstGeom prst="roundRect">
            <a:avLst>
              <a:gd fmla="val 5185" name="adj"/>
            </a:avLst>
          </a:prstGeom>
          <a:solidFill>
            <a:srgbClr val="F4F5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3456432" y="3621024"/>
            <a:ext cx="384048" cy="38404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0" name="Google Shape;130;p7"/>
          <p:cNvPicPr preferRelativeResize="0"/>
          <p:nvPr/>
        </p:nvPicPr>
        <p:blipFill rotWithShape="1">
          <a:blip r:embed="rId8">
            <a:alphaModFix/>
          </a:blip>
          <a:srcRect b="0" l="0" r="0" t="0"/>
          <a:stretch/>
        </p:blipFill>
        <p:spPr>
          <a:xfrm>
            <a:off x="3556284" y="3720876"/>
            <a:ext cx="184343" cy="184343"/>
          </a:xfrm>
          <a:prstGeom prst="rect">
            <a:avLst/>
          </a:prstGeom>
          <a:noFill/>
          <a:ln>
            <a:noFill/>
          </a:ln>
        </p:spPr>
      </p:pic>
      <p:sp>
        <p:nvSpPr>
          <p:cNvPr id="131" name="Google Shape;131;p7"/>
          <p:cNvSpPr/>
          <p:nvPr/>
        </p:nvSpPr>
        <p:spPr>
          <a:xfrm>
            <a:off x="3950208" y="3566160"/>
            <a:ext cx="1874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250"/>
              <a:buFont typeface="Arial"/>
              <a:buNone/>
            </a:pPr>
            <a:r>
              <a:rPr b="1" i="0" lang="en-US" sz="1250" u="none" cap="none" strike="noStrike">
                <a:solidFill>
                  <a:srgbClr val="0B0B0F"/>
                </a:solidFill>
                <a:latin typeface="Arial"/>
                <a:ea typeface="Arial"/>
                <a:cs typeface="Arial"/>
                <a:sym typeface="Arial"/>
              </a:rPr>
              <a:t>Immobilier et administration de biens</a:t>
            </a:r>
            <a:endParaRPr b="0" i="0" sz="1250" u="none" cap="none" strike="noStrike">
              <a:solidFill>
                <a:schemeClr val="dk1"/>
              </a:solidFill>
              <a:latin typeface="Calibri"/>
              <a:ea typeface="Calibri"/>
              <a:cs typeface="Calibri"/>
              <a:sym typeface="Calibri"/>
            </a:endParaRPr>
          </a:p>
        </p:txBody>
      </p:sp>
      <p:sp>
        <p:nvSpPr>
          <p:cNvPr id="132" name="Google Shape;132;p7"/>
          <p:cNvSpPr/>
          <p:nvPr/>
        </p:nvSpPr>
        <p:spPr>
          <a:xfrm>
            <a:off x="3456432" y="4133088"/>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050"/>
              <a:buFont typeface="Calibri"/>
              <a:buNone/>
            </a:pPr>
            <a:r>
              <a:rPr b="0" i="0" lang="en-US" sz="1050" u="none" cap="none" strike="noStrike">
                <a:solidFill>
                  <a:srgbClr val="5A5A66"/>
                </a:solidFill>
                <a:latin typeface="Calibri"/>
                <a:ea typeface="Calibri"/>
                <a:cs typeface="Calibri"/>
                <a:sym typeface="Calibri"/>
              </a:rPr>
              <a:t>Baux, états des lieux, gestion locative</a:t>
            </a:r>
            <a:endParaRPr b="0" i="0" sz="1050" u="none" cap="none" strike="noStrike">
              <a:solidFill>
                <a:schemeClr val="dk1"/>
              </a:solidFill>
              <a:latin typeface="Calibri"/>
              <a:ea typeface="Calibri"/>
              <a:cs typeface="Calibri"/>
              <a:sym typeface="Calibri"/>
            </a:endParaRPr>
          </a:p>
        </p:txBody>
      </p:sp>
      <p:sp>
        <p:nvSpPr>
          <p:cNvPr id="133" name="Google Shape;133;p7"/>
          <p:cNvSpPr/>
          <p:nvPr/>
        </p:nvSpPr>
        <p:spPr>
          <a:xfrm>
            <a:off x="6080760" y="3474720"/>
            <a:ext cx="2606040" cy="1234440"/>
          </a:xfrm>
          <a:prstGeom prst="roundRect">
            <a:avLst>
              <a:gd fmla="val 5185" name="adj"/>
            </a:avLst>
          </a:prstGeom>
          <a:solidFill>
            <a:srgbClr val="F4F5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
          <p:cNvSpPr/>
          <p:nvPr/>
        </p:nvSpPr>
        <p:spPr>
          <a:xfrm>
            <a:off x="6245352" y="3621024"/>
            <a:ext cx="384048" cy="38404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5" name="Google Shape;135;p7"/>
          <p:cNvPicPr preferRelativeResize="0"/>
          <p:nvPr/>
        </p:nvPicPr>
        <p:blipFill rotWithShape="1">
          <a:blip r:embed="rId9">
            <a:alphaModFix/>
          </a:blip>
          <a:srcRect b="0" l="0" r="0" t="0"/>
          <a:stretch/>
        </p:blipFill>
        <p:spPr>
          <a:xfrm>
            <a:off x="6345204" y="3720876"/>
            <a:ext cx="184343" cy="184343"/>
          </a:xfrm>
          <a:prstGeom prst="rect">
            <a:avLst/>
          </a:prstGeom>
          <a:noFill/>
          <a:ln>
            <a:noFill/>
          </a:ln>
        </p:spPr>
      </p:pic>
      <p:sp>
        <p:nvSpPr>
          <p:cNvPr id="136" name="Google Shape;136;p7"/>
          <p:cNvSpPr/>
          <p:nvPr/>
        </p:nvSpPr>
        <p:spPr>
          <a:xfrm>
            <a:off x="6739128" y="3566160"/>
            <a:ext cx="1874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250"/>
              <a:buFont typeface="Arial"/>
              <a:buNone/>
            </a:pPr>
            <a:r>
              <a:rPr b="1" i="0" lang="en-US" sz="1250" u="none" cap="none" strike="noStrike">
                <a:solidFill>
                  <a:srgbClr val="0B0B0F"/>
                </a:solidFill>
                <a:latin typeface="Arial"/>
                <a:ea typeface="Arial"/>
                <a:cs typeface="Arial"/>
                <a:sym typeface="Arial"/>
              </a:rPr>
              <a:t>Professions libérales et cabinets</a:t>
            </a:r>
            <a:endParaRPr b="0" i="0" sz="1250" u="none" cap="none" strike="noStrike">
              <a:solidFill>
                <a:schemeClr val="dk1"/>
              </a:solidFill>
              <a:latin typeface="Calibri"/>
              <a:ea typeface="Calibri"/>
              <a:cs typeface="Calibri"/>
              <a:sym typeface="Calibri"/>
            </a:endParaRPr>
          </a:p>
        </p:txBody>
      </p:sp>
      <p:sp>
        <p:nvSpPr>
          <p:cNvPr id="137" name="Google Shape;137;p7"/>
          <p:cNvSpPr/>
          <p:nvPr/>
        </p:nvSpPr>
        <p:spPr>
          <a:xfrm>
            <a:off x="6245352" y="4133088"/>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050"/>
              <a:buFont typeface="Calibri"/>
              <a:buNone/>
            </a:pPr>
            <a:r>
              <a:rPr b="0" i="0" lang="en-US" sz="1050" u="none" cap="none" strike="noStrike">
                <a:solidFill>
                  <a:srgbClr val="5A5A66"/>
                </a:solidFill>
                <a:latin typeface="Calibri"/>
                <a:ea typeface="Calibri"/>
                <a:cs typeface="Calibri"/>
                <a:sym typeface="Calibri"/>
              </a:rPr>
              <a:t>Back office, courriers, comptes rendus</a:t>
            </a:r>
            <a:endParaRPr b="0" i="0" sz="1050" u="none" cap="none" strike="noStrike">
              <a:solidFill>
                <a:schemeClr val="dk1"/>
              </a:solidFill>
              <a:latin typeface="Calibri"/>
              <a:ea typeface="Calibri"/>
              <a:cs typeface="Calibri"/>
              <a:sym typeface="Calibri"/>
            </a:endParaRPr>
          </a:p>
        </p:txBody>
      </p:sp>
      <p:sp>
        <p:nvSpPr>
          <p:cNvPr id="138" name="Google Shape;138;p7"/>
          <p:cNvSpPr/>
          <p:nvPr/>
        </p:nvSpPr>
        <p:spPr>
          <a:xfrm>
            <a:off x="2171070" y="-676542"/>
            <a:ext cx="8138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1100"/>
              <a:buFont typeface="Arial"/>
              <a:buNone/>
            </a:pPr>
            <a:r>
              <a:rPr b="1" lang="en-US" sz="1100">
                <a:solidFill>
                  <a:srgbClr val="000091"/>
                </a:solidFill>
              </a:rPr>
              <a:t>retravailler  le </a:t>
            </a:r>
            <a:r>
              <a:rPr b="1" i="0" lang="en-US" sz="1100" u="none" cap="none" strike="noStrike">
                <a:solidFill>
                  <a:srgbClr val="000091"/>
                </a:solidFill>
                <a:latin typeface="Arial"/>
                <a:ea typeface="Arial"/>
                <a:cs typeface="Arial"/>
                <a:sym typeface="Arial"/>
              </a:rPr>
              <a:t>QUI  ?</a:t>
            </a:r>
            <a:endParaRPr b="0" i="0" sz="1100" u="none" cap="none" strike="noStrike">
              <a:solidFill>
                <a:schemeClr val="dk1"/>
              </a:solidFill>
              <a:latin typeface="Calibri"/>
              <a:ea typeface="Calibri"/>
              <a:cs typeface="Calibri"/>
              <a:sym typeface="Calibri"/>
            </a:endParaRPr>
          </a:p>
        </p:txBody>
      </p:sp>
      <p:sp>
        <p:nvSpPr>
          <p:cNvPr id="139" name="Google Shape;139;p7"/>
          <p:cNvSpPr/>
          <p:nvPr/>
        </p:nvSpPr>
        <p:spPr>
          <a:xfrm>
            <a:off x="1881225" y="134700"/>
            <a:ext cx="4537200" cy="31701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F"/>
        </a:solidFill>
      </p:bgPr>
    </p:bg>
    <p:spTree>
      <p:nvGrpSpPr>
        <p:cNvPr id="144" name="Shape 144"/>
        <p:cNvGrpSpPr/>
        <p:nvPr/>
      </p:nvGrpSpPr>
      <p:grpSpPr>
        <a:xfrm>
          <a:off x="0" y="0"/>
          <a:ext cx="0" cy="0"/>
          <a:chOff x="0" y="0"/>
          <a:chExt cx="0" cy="0"/>
        </a:xfrm>
      </p:grpSpPr>
      <p:sp>
        <p:nvSpPr>
          <p:cNvPr id="145" name="Google Shape;145;p8"/>
          <p:cNvSpPr/>
          <p:nvPr/>
        </p:nvSpPr>
        <p:spPr>
          <a:xfrm>
            <a:off x="502920" y="292608"/>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FF"/>
              </a:buClr>
              <a:buSzPts val="1100"/>
              <a:buFont typeface="Arial"/>
              <a:buNone/>
            </a:pPr>
            <a:r>
              <a:rPr b="1" i="0" lang="en-US" sz="1100" u="none" cap="none" strike="noStrike">
                <a:solidFill>
                  <a:srgbClr val="8A8AFF"/>
                </a:solidFill>
                <a:latin typeface="Arial"/>
                <a:ea typeface="Arial"/>
                <a:cs typeface="Arial"/>
                <a:sym typeface="Arial"/>
              </a:rPr>
              <a:t>CE QUE NOUS LIVRONS</a:t>
            </a:r>
            <a:endParaRPr b="0" i="0" sz="1100" u="none" cap="none" strike="noStrike">
              <a:solidFill>
                <a:schemeClr val="dk1"/>
              </a:solidFill>
              <a:latin typeface="Calibri"/>
              <a:ea typeface="Calibri"/>
              <a:cs typeface="Calibri"/>
              <a:sym typeface="Calibri"/>
            </a:endParaRPr>
          </a:p>
        </p:txBody>
      </p:sp>
      <p:sp>
        <p:nvSpPr>
          <p:cNvPr id="146" name="Google Shape;146;p8"/>
          <p:cNvSpPr/>
          <p:nvPr/>
        </p:nvSpPr>
        <p:spPr>
          <a:xfrm>
            <a:off x="502920" y="530352"/>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Trois piliers, un seul engagement : la production.</a:t>
            </a:r>
            <a:endParaRPr b="0" i="0" sz="3000" u="none" cap="none" strike="noStrike">
              <a:solidFill>
                <a:schemeClr val="dk1"/>
              </a:solidFill>
              <a:latin typeface="Calibri"/>
              <a:ea typeface="Calibri"/>
              <a:cs typeface="Calibri"/>
              <a:sym typeface="Calibri"/>
            </a:endParaRPr>
          </a:p>
        </p:txBody>
      </p:sp>
      <p:sp>
        <p:nvSpPr>
          <p:cNvPr id="147" name="Google Shape;147;p8"/>
          <p:cNvSpPr/>
          <p:nvPr/>
        </p:nvSpPr>
        <p:spPr>
          <a:xfrm>
            <a:off x="502920" y="1463040"/>
            <a:ext cx="2606040" cy="3246120"/>
          </a:xfrm>
          <a:prstGeom prst="roundRect">
            <a:avLst>
              <a:gd fmla="val 2807" name="adj"/>
            </a:avLst>
          </a:prstGeom>
          <a:solidFill>
            <a:srgbClr val="16161F"/>
          </a:solidFill>
          <a:ln cap="flat" cmpd="sng" w="12700">
            <a:solidFill>
              <a:srgbClr val="2A2A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731520" y="1691640"/>
            <a:ext cx="502920" cy="502920"/>
          </a:xfrm>
          <a:prstGeom prst="ellipse">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9" name="Google Shape;149;p8"/>
          <p:cNvPicPr preferRelativeResize="0"/>
          <p:nvPr/>
        </p:nvPicPr>
        <p:blipFill rotWithShape="1">
          <a:blip r:embed="rId3">
            <a:alphaModFix/>
          </a:blip>
          <a:srcRect b="0" l="0" r="0" t="0"/>
          <a:stretch/>
        </p:blipFill>
        <p:spPr>
          <a:xfrm>
            <a:off x="859536" y="1819656"/>
            <a:ext cx="246888" cy="246888"/>
          </a:xfrm>
          <a:prstGeom prst="rect">
            <a:avLst/>
          </a:prstGeom>
          <a:noFill/>
          <a:ln>
            <a:noFill/>
          </a:ln>
        </p:spPr>
      </p:pic>
      <p:sp>
        <p:nvSpPr>
          <p:cNvPr id="150" name="Google Shape;150;p8"/>
          <p:cNvSpPr/>
          <p:nvPr/>
        </p:nvSpPr>
        <p:spPr>
          <a:xfrm>
            <a:off x="731520" y="2331720"/>
            <a:ext cx="21945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Agents IA métier</a:t>
            </a:r>
            <a:endParaRPr b="0" i="0" sz="1600" u="none" cap="none" strike="noStrike">
              <a:solidFill>
                <a:schemeClr val="dk1"/>
              </a:solidFill>
              <a:latin typeface="Calibri"/>
              <a:ea typeface="Calibri"/>
              <a:cs typeface="Calibri"/>
              <a:sym typeface="Calibri"/>
            </a:endParaRPr>
          </a:p>
        </p:txBody>
      </p:sp>
      <p:sp>
        <p:nvSpPr>
          <p:cNvPr id="151" name="Google Shape;151;p8"/>
          <p:cNvSpPr/>
          <p:nvPr/>
        </p:nvSpPr>
        <p:spPr>
          <a:xfrm>
            <a:off x="731520" y="2926080"/>
            <a:ext cx="2194560" cy="1645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B9D0"/>
              </a:buClr>
              <a:buSzPts val="1150"/>
              <a:buFont typeface="Calibri"/>
              <a:buNone/>
            </a:pPr>
            <a:r>
              <a:rPr b="0" i="0" lang="en-US" sz="1150" u="none" cap="none" strike="noStrike">
                <a:solidFill>
                  <a:srgbClr val="B9B9D0"/>
                </a:solidFill>
                <a:latin typeface="Calibri"/>
                <a:ea typeface="Calibri"/>
                <a:cs typeface="Calibri"/>
                <a:sym typeface="Calibri"/>
              </a:rPr>
              <a:t>Des agents conçus pour vos processus réels : collecte documentaire, instruction de dossiers, reporting, relances. Intégrés à vos outils existants, pas à côté.</a:t>
            </a:r>
            <a:endParaRPr b="0" i="0" sz="1150" u="none" cap="none" strike="noStrike">
              <a:solidFill>
                <a:schemeClr val="dk1"/>
              </a:solidFill>
              <a:latin typeface="Calibri"/>
              <a:ea typeface="Calibri"/>
              <a:cs typeface="Calibri"/>
              <a:sym typeface="Calibri"/>
            </a:endParaRPr>
          </a:p>
        </p:txBody>
      </p:sp>
      <p:sp>
        <p:nvSpPr>
          <p:cNvPr id="152" name="Google Shape;152;p8"/>
          <p:cNvSpPr/>
          <p:nvPr/>
        </p:nvSpPr>
        <p:spPr>
          <a:xfrm>
            <a:off x="3291840" y="1463040"/>
            <a:ext cx="2606040" cy="3246120"/>
          </a:xfrm>
          <a:prstGeom prst="roundRect">
            <a:avLst>
              <a:gd fmla="val 2807" name="adj"/>
            </a:avLst>
          </a:prstGeom>
          <a:solidFill>
            <a:srgbClr val="16161F"/>
          </a:solidFill>
          <a:ln cap="flat" cmpd="sng" w="12700">
            <a:solidFill>
              <a:srgbClr val="2A2A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
          <p:cNvSpPr/>
          <p:nvPr/>
        </p:nvSpPr>
        <p:spPr>
          <a:xfrm>
            <a:off x="3520440" y="1691640"/>
            <a:ext cx="502920" cy="502920"/>
          </a:xfrm>
          <a:prstGeom prst="ellipse">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4" name="Google Shape;154;p8"/>
          <p:cNvPicPr preferRelativeResize="0"/>
          <p:nvPr/>
        </p:nvPicPr>
        <p:blipFill rotWithShape="1">
          <a:blip r:embed="rId4">
            <a:alphaModFix/>
          </a:blip>
          <a:srcRect b="0" l="0" r="0" t="0"/>
          <a:stretch/>
        </p:blipFill>
        <p:spPr>
          <a:xfrm>
            <a:off x="3648456" y="1819656"/>
            <a:ext cx="246888" cy="246888"/>
          </a:xfrm>
          <a:prstGeom prst="rect">
            <a:avLst/>
          </a:prstGeom>
          <a:noFill/>
          <a:ln>
            <a:noFill/>
          </a:ln>
        </p:spPr>
      </p:pic>
      <p:sp>
        <p:nvSpPr>
          <p:cNvPr id="155" name="Google Shape;155;p8"/>
          <p:cNvSpPr/>
          <p:nvPr/>
        </p:nvSpPr>
        <p:spPr>
          <a:xfrm>
            <a:off x="3520440" y="2331720"/>
            <a:ext cx="21945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Infrastructure souveraine</a:t>
            </a:r>
            <a:endParaRPr b="0" i="0" sz="1600" u="none" cap="none" strike="noStrike">
              <a:solidFill>
                <a:schemeClr val="dk1"/>
              </a:solidFill>
              <a:latin typeface="Calibri"/>
              <a:ea typeface="Calibri"/>
              <a:cs typeface="Calibri"/>
              <a:sym typeface="Calibri"/>
            </a:endParaRPr>
          </a:p>
        </p:txBody>
      </p:sp>
      <p:sp>
        <p:nvSpPr>
          <p:cNvPr id="156" name="Google Shape;156;p8"/>
          <p:cNvSpPr/>
          <p:nvPr/>
        </p:nvSpPr>
        <p:spPr>
          <a:xfrm>
            <a:off x="3520440" y="2926080"/>
            <a:ext cx="2194560" cy="1645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B9D0"/>
              </a:buClr>
              <a:buSzPts val="1150"/>
              <a:buFont typeface="Calibri"/>
              <a:buNone/>
            </a:pPr>
            <a:r>
              <a:rPr b="0" i="0" lang="en-US" sz="1150" u="none" cap="none" strike="noStrike">
                <a:solidFill>
                  <a:srgbClr val="B9B9D0"/>
                </a:solidFill>
                <a:latin typeface="Calibri"/>
                <a:ea typeface="Calibri"/>
                <a:cs typeface="Calibri"/>
                <a:sym typeface="Calibri"/>
              </a:rPr>
              <a:t>Vos données restent chez vous : hébergement en France ou sur votre propre infrastructure. Aucune dépendance à un cloud extraterritorial pour vos données sensibles.</a:t>
            </a:r>
            <a:endParaRPr b="0" i="0" sz="1150" u="none" cap="none" strike="noStrike">
              <a:solidFill>
                <a:schemeClr val="dk1"/>
              </a:solidFill>
              <a:latin typeface="Calibri"/>
              <a:ea typeface="Calibri"/>
              <a:cs typeface="Calibri"/>
              <a:sym typeface="Calibri"/>
            </a:endParaRPr>
          </a:p>
        </p:txBody>
      </p:sp>
      <p:sp>
        <p:nvSpPr>
          <p:cNvPr id="157" name="Google Shape;157;p8"/>
          <p:cNvSpPr/>
          <p:nvPr/>
        </p:nvSpPr>
        <p:spPr>
          <a:xfrm>
            <a:off x="6080760" y="1463040"/>
            <a:ext cx="2606040" cy="3246120"/>
          </a:xfrm>
          <a:prstGeom prst="roundRect">
            <a:avLst>
              <a:gd fmla="val 2807" name="adj"/>
            </a:avLst>
          </a:prstGeom>
          <a:solidFill>
            <a:srgbClr val="16161F"/>
          </a:solidFill>
          <a:ln cap="flat" cmpd="sng" w="12700">
            <a:solidFill>
              <a:srgbClr val="2A2A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p:nvPr/>
        </p:nvSpPr>
        <p:spPr>
          <a:xfrm>
            <a:off x="6309360" y="1691640"/>
            <a:ext cx="502920" cy="502920"/>
          </a:xfrm>
          <a:prstGeom prst="ellipse">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9" name="Google Shape;159;p8"/>
          <p:cNvPicPr preferRelativeResize="0"/>
          <p:nvPr/>
        </p:nvPicPr>
        <p:blipFill rotWithShape="1">
          <a:blip r:embed="rId5">
            <a:alphaModFix/>
          </a:blip>
          <a:srcRect b="0" l="0" r="0" t="0"/>
          <a:stretch/>
        </p:blipFill>
        <p:spPr>
          <a:xfrm>
            <a:off x="6437376" y="1819656"/>
            <a:ext cx="246888" cy="246888"/>
          </a:xfrm>
          <a:prstGeom prst="rect">
            <a:avLst/>
          </a:prstGeom>
          <a:noFill/>
          <a:ln>
            <a:noFill/>
          </a:ln>
        </p:spPr>
      </p:pic>
      <p:sp>
        <p:nvSpPr>
          <p:cNvPr id="160" name="Google Shape;160;p8"/>
          <p:cNvSpPr/>
          <p:nvPr/>
        </p:nvSpPr>
        <p:spPr>
          <a:xfrm>
            <a:off x="6309360" y="2331720"/>
            <a:ext cx="21945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Agnostique LLM</a:t>
            </a:r>
            <a:endParaRPr b="0" i="0" sz="1600" u="none" cap="none" strike="noStrike">
              <a:solidFill>
                <a:schemeClr val="dk1"/>
              </a:solidFill>
              <a:latin typeface="Calibri"/>
              <a:ea typeface="Calibri"/>
              <a:cs typeface="Calibri"/>
              <a:sym typeface="Calibri"/>
            </a:endParaRPr>
          </a:p>
        </p:txBody>
      </p:sp>
      <p:sp>
        <p:nvSpPr>
          <p:cNvPr id="161" name="Google Shape;161;p8"/>
          <p:cNvSpPr/>
          <p:nvPr/>
        </p:nvSpPr>
        <p:spPr>
          <a:xfrm>
            <a:off x="6309360" y="2926080"/>
            <a:ext cx="2194560" cy="1645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B9D0"/>
              </a:buClr>
              <a:buSzPts val="1150"/>
              <a:buFont typeface="Calibri"/>
              <a:buNone/>
            </a:pPr>
            <a:r>
              <a:rPr b="0" i="0" lang="en-US" sz="1150" u="none" cap="none" strike="noStrike">
                <a:solidFill>
                  <a:srgbClr val="B9B9D0"/>
                </a:solidFill>
                <a:latin typeface="Calibri"/>
                <a:ea typeface="Calibri"/>
                <a:cs typeface="Calibri"/>
                <a:sym typeface="Calibri"/>
              </a:rPr>
              <a:t>Mistral, Claude, GPT, Gemini ou modèle open source hébergé localement : nous branchons le meilleur modèle pour chaque tâche et nous en changeons quand le marché bouge.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 name="Shape 166"/>
        <p:cNvGrpSpPr/>
        <p:nvPr/>
      </p:nvGrpSpPr>
      <p:grpSpPr>
        <a:xfrm>
          <a:off x="0" y="0"/>
          <a:ext cx="0" cy="0"/>
          <a:chOff x="0" y="0"/>
          <a:chExt cx="0" cy="0"/>
        </a:xfrm>
      </p:grpSpPr>
      <p:sp>
        <p:nvSpPr>
          <p:cNvPr id="167" name="Google Shape;167;p9"/>
          <p:cNvSpPr/>
          <p:nvPr/>
        </p:nvSpPr>
        <p:spPr>
          <a:xfrm>
            <a:off x="502920" y="292608"/>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1100"/>
              <a:buFont typeface="Arial"/>
              <a:buNone/>
            </a:pPr>
            <a:r>
              <a:rPr b="1" i="0" lang="en-US" sz="1100" u="none" cap="none" strike="noStrike">
                <a:solidFill>
                  <a:srgbClr val="000091"/>
                </a:solidFill>
                <a:latin typeface="Arial"/>
                <a:ea typeface="Arial"/>
                <a:cs typeface="Arial"/>
                <a:sym typeface="Arial"/>
              </a:rPr>
              <a:t>NOTRE MÉTHODE</a:t>
            </a:r>
            <a:endParaRPr b="0" i="0" sz="1100" u="none" cap="none" strike="noStrike">
              <a:solidFill>
                <a:schemeClr val="dk1"/>
              </a:solidFill>
              <a:latin typeface="Calibri"/>
              <a:ea typeface="Calibri"/>
              <a:cs typeface="Calibri"/>
              <a:sym typeface="Calibri"/>
            </a:endParaRPr>
          </a:p>
        </p:txBody>
      </p:sp>
      <p:sp>
        <p:nvSpPr>
          <p:cNvPr id="168" name="Google Shape;168;p9"/>
          <p:cNvSpPr/>
          <p:nvPr/>
        </p:nvSpPr>
        <p:spPr>
          <a:xfrm>
            <a:off x="502920" y="530352"/>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3000"/>
              <a:buFont typeface="Arial"/>
              <a:buNone/>
            </a:pPr>
            <a:r>
              <a:rPr b="1" i="0" lang="en-US" sz="3000" u="none" cap="none" strike="noStrike">
                <a:solidFill>
                  <a:srgbClr val="0B0B0F"/>
                </a:solidFill>
                <a:latin typeface="Arial"/>
                <a:ea typeface="Arial"/>
                <a:cs typeface="Arial"/>
                <a:sym typeface="Arial"/>
              </a:rPr>
              <a:t>Le framework SIGNAL : du bruit à la performance.</a:t>
            </a:r>
            <a:endParaRPr b="0" i="0" sz="3000" u="none" cap="none" strike="noStrike">
              <a:solidFill>
                <a:schemeClr val="dk1"/>
              </a:solidFill>
              <a:latin typeface="Calibri"/>
              <a:ea typeface="Calibri"/>
              <a:cs typeface="Calibri"/>
              <a:sym typeface="Calibri"/>
            </a:endParaRPr>
          </a:p>
        </p:txBody>
      </p:sp>
      <p:sp>
        <p:nvSpPr>
          <p:cNvPr id="169" name="Google Shape;169;p9"/>
          <p:cNvSpPr/>
          <p:nvPr/>
        </p:nvSpPr>
        <p:spPr>
          <a:xfrm>
            <a:off x="502920" y="1325880"/>
            <a:ext cx="8138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350"/>
              <a:buFont typeface="Calibri"/>
              <a:buNone/>
            </a:pPr>
            <a:r>
              <a:rPr b="0" i="0" lang="en-US" sz="1350" u="none" cap="none" strike="noStrike">
                <a:solidFill>
                  <a:srgbClr val="5A5A66"/>
                </a:solidFill>
                <a:latin typeface="Calibri"/>
                <a:ea typeface="Calibri"/>
                <a:cs typeface="Calibri"/>
                <a:sym typeface="Calibri"/>
              </a:rPr>
              <a:t>Six étapes, chacune avec un livrable concret. Rien ne passe en production sans gouvernance validée, rien n'est automatisé sans avoir été observé sur le terrain.</a:t>
            </a:r>
            <a:endParaRPr b="0" i="0" sz="1350" u="none" cap="none" strike="noStrike">
              <a:solidFill>
                <a:schemeClr val="dk1"/>
              </a:solidFill>
              <a:latin typeface="Calibri"/>
              <a:ea typeface="Calibri"/>
              <a:cs typeface="Calibri"/>
              <a:sym typeface="Calibri"/>
            </a:endParaRPr>
          </a:p>
        </p:txBody>
      </p:sp>
      <p:sp>
        <p:nvSpPr>
          <p:cNvPr id="170" name="Google Shape;170;p9"/>
          <p:cNvSpPr/>
          <p:nvPr/>
        </p:nvSpPr>
        <p:spPr>
          <a:xfrm>
            <a:off x="502920" y="2011680"/>
            <a:ext cx="1261872" cy="2697480"/>
          </a:xfrm>
          <a:prstGeom prst="roundRect">
            <a:avLst>
              <a:gd fmla="val 5072" name="adj"/>
            </a:avLst>
          </a:prstGeom>
          <a:solidFill>
            <a:srgbClr val="F4F5FA"/>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p:nvPr/>
        </p:nvSpPr>
        <p:spPr>
          <a:xfrm>
            <a:off x="502920" y="2148840"/>
            <a:ext cx="1261872"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91"/>
              </a:buClr>
              <a:buSzPts val="4400"/>
              <a:buFont typeface="Arial"/>
              <a:buNone/>
            </a:pPr>
            <a:r>
              <a:rPr b="1" i="0" lang="en-US" sz="4400" u="none" cap="none" strike="noStrike">
                <a:solidFill>
                  <a:srgbClr val="000091"/>
                </a:solidFill>
                <a:latin typeface="Arial"/>
                <a:ea typeface="Arial"/>
                <a:cs typeface="Arial"/>
                <a:sym typeface="Arial"/>
              </a:rPr>
              <a:t>S</a:t>
            </a:r>
            <a:endParaRPr b="0" i="0" sz="4400" u="none" cap="none" strike="noStrike">
              <a:solidFill>
                <a:schemeClr val="dk1"/>
              </a:solidFill>
              <a:latin typeface="Calibri"/>
              <a:ea typeface="Calibri"/>
              <a:cs typeface="Calibri"/>
              <a:sym typeface="Calibri"/>
            </a:endParaRPr>
          </a:p>
        </p:txBody>
      </p:sp>
      <p:sp>
        <p:nvSpPr>
          <p:cNvPr id="172" name="Google Shape;172;p9"/>
          <p:cNvSpPr/>
          <p:nvPr/>
        </p:nvSpPr>
        <p:spPr>
          <a:xfrm>
            <a:off x="576072" y="2880360"/>
            <a:ext cx="111556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B0F"/>
              </a:buClr>
              <a:buSzPts val="1300"/>
              <a:buFont typeface="Arial"/>
              <a:buNone/>
            </a:pPr>
            <a:r>
              <a:rPr b="1" i="0" lang="en-US" sz="1300" u="none" cap="none" strike="noStrike">
                <a:solidFill>
                  <a:srgbClr val="0B0B0F"/>
                </a:solidFill>
                <a:latin typeface="Arial"/>
                <a:ea typeface="Arial"/>
                <a:cs typeface="Arial"/>
                <a:sym typeface="Arial"/>
              </a:rPr>
              <a:t>Sonder</a:t>
            </a:r>
            <a:endParaRPr b="0" i="0" sz="1300" u="none" cap="none" strike="noStrike">
              <a:solidFill>
                <a:schemeClr val="dk1"/>
              </a:solidFill>
              <a:latin typeface="Calibri"/>
              <a:ea typeface="Calibri"/>
              <a:cs typeface="Calibri"/>
              <a:sym typeface="Calibri"/>
            </a:endParaRPr>
          </a:p>
        </p:txBody>
      </p:sp>
      <p:sp>
        <p:nvSpPr>
          <p:cNvPr id="173" name="Google Shape;173;p9"/>
          <p:cNvSpPr/>
          <p:nvPr/>
        </p:nvSpPr>
        <p:spPr>
          <a:xfrm>
            <a:off x="594360" y="3246120"/>
            <a:ext cx="1078992"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5A66"/>
              </a:buClr>
              <a:buSzPts val="950"/>
              <a:buFont typeface="Calibri"/>
              <a:buNone/>
            </a:pPr>
            <a:r>
              <a:rPr b="0" i="0" lang="en-US" sz="950" u="none" cap="none" strike="noStrike">
                <a:solidFill>
                  <a:srgbClr val="5A5A66"/>
                </a:solidFill>
                <a:latin typeface="Calibri"/>
                <a:ea typeface="Calibri"/>
                <a:cs typeface="Calibri"/>
                <a:sym typeface="Calibri"/>
              </a:rPr>
              <a:t>Immersion terrain dans vos processus, au plus près des équipes</a:t>
            </a:r>
            <a:endParaRPr b="0" i="0" sz="950" u="none" cap="none" strike="noStrike">
              <a:solidFill>
                <a:schemeClr val="dk1"/>
              </a:solidFill>
              <a:latin typeface="Calibri"/>
              <a:ea typeface="Calibri"/>
              <a:cs typeface="Calibri"/>
              <a:sym typeface="Calibri"/>
            </a:endParaRPr>
          </a:p>
        </p:txBody>
      </p:sp>
      <p:sp>
        <p:nvSpPr>
          <p:cNvPr id="174" name="Google Shape;174;p9"/>
          <p:cNvSpPr/>
          <p:nvPr/>
        </p:nvSpPr>
        <p:spPr>
          <a:xfrm>
            <a:off x="1892808" y="2011680"/>
            <a:ext cx="1261872" cy="2697480"/>
          </a:xfrm>
          <a:prstGeom prst="roundRect">
            <a:avLst>
              <a:gd fmla="val 5072" name="adj"/>
            </a:avLst>
          </a:prstGeom>
          <a:solidFill>
            <a:srgbClr val="F4F5FA"/>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p:nvPr/>
        </p:nvSpPr>
        <p:spPr>
          <a:xfrm>
            <a:off x="1892808" y="2148840"/>
            <a:ext cx="1261872"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91"/>
              </a:buClr>
              <a:buSzPts val="4400"/>
              <a:buFont typeface="Arial"/>
              <a:buNone/>
            </a:pPr>
            <a:r>
              <a:rPr b="1" i="0" lang="en-US" sz="4400" u="none" cap="none" strike="noStrike">
                <a:solidFill>
                  <a:srgbClr val="000091"/>
                </a:solidFill>
                <a:latin typeface="Arial"/>
                <a:ea typeface="Arial"/>
                <a:cs typeface="Arial"/>
                <a:sym typeface="Arial"/>
              </a:rPr>
              <a:t>I</a:t>
            </a:r>
            <a:endParaRPr b="0" i="0" sz="4400" u="none" cap="none" strike="noStrike">
              <a:solidFill>
                <a:schemeClr val="dk1"/>
              </a:solidFill>
              <a:latin typeface="Calibri"/>
              <a:ea typeface="Calibri"/>
              <a:cs typeface="Calibri"/>
              <a:sym typeface="Calibri"/>
            </a:endParaRPr>
          </a:p>
        </p:txBody>
      </p:sp>
      <p:sp>
        <p:nvSpPr>
          <p:cNvPr id="176" name="Google Shape;176;p9"/>
          <p:cNvSpPr/>
          <p:nvPr/>
        </p:nvSpPr>
        <p:spPr>
          <a:xfrm>
            <a:off x="1965960" y="2880360"/>
            <a:ext cx="111556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B0F"/>
              </a:buClr>
              <a:buSzPts val="1300"/>
              <a:buFont typeface="Arial"/>
              <a:buNone/>
            </a:pPr>
            <a:r>
              <a:rPr b="1" i="0" lang="en-US" sz="1300" u="none" cap="none" strike="noStrike">
                <a:solidFill>
                  <a:srgbClr val="0B0B0F"/>
                </a:solidFill>
                <a:latin typeface="Arial"/>
                <a:ea typeface="Arial"/>
                <a:cs typeface="Arial"/>
                <a:sym typeface="Arial"/>
              </a:rPr>
              <a:t>Identifier</a:t>
            </a:r>
            <a:endParaRPr b="0" i="0" sz="1300" u="none" cap="none" strike="noStrike">
              <a:solidFill>
                <a:schemeClr val="dk1"/>
              </a:solidFill>
              <a:latin typeface="Calibri"/>
              <a:ea typeface="Calibri"/>
              <a:cs typeface="Calibri"/>
              <a:sym typeface="Calibri"/>
            </a:endParaRPr>
          </a:p>
        </p:txBody>
      </p:sp>
      <p:sp>
        <p:nvSpPr>
          <p:cNvPr id="177" name="Google Shape;177;p9"/>
          <p:cNvSpPr/>
          <p:nvPr/>
        </p:nvSpPr>
        <p:spPr>
          <a:xfrm>
            <a:off x="1984248" y="3246120"/>
            <a:ext cx="1078992"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5A66"/>
              </a:buClr>
              <a:buSzPts val="950"/>
              <a:buFont typeface="Calibri"/>
              <a:buNone/>
            </a:pPr>
            <a:r>
              <a:rPr b="0" i="0" lang="en-US" sz="950" u="none" cap="none" strike="noStrike">
                <a:solidFill>
                  <a:srgbClr val="5A5A66"/>
                </a:solidFill>
                <a:latin typeface="Calibri"/>
                <a:ea typeface="Calibri"/>
                <a:cs typeface="Calibri"/>
                <a:sym typeface="Calibri"/>
              </a:rPr>
              <a:t>Cas d'usage priorisés par ROI et faisabilité</a:t>
            </a:r>
            <a:endParaRPr b="0" i="0" sz="950" u="none" cap="none" strike="noStrike">
              <a:solidFill>
                <a:schemeClr val="dk1"/>
              </a:solidFill>
              <a:latin typeface="Calibri"/>
              <a:ea typeface="Calibri"/>
              <a:cs typeface="Calibri"/>
              <a:sym typeface="Calibri"/>
            </a:endParaRPr>
          </a:p>
        </p:txBody>
      </p:sp>
      <p:sp>
        <p:nvSpPr>
          <p:cNvPr id="178" name="Google Shape;178;p9"/>
          <p:cNvSpPr/>
          <p:nvPr/>
        </p:nvSpPr>
        <p:spPr>
          <a:xfrm>
            <a:off x="3282696" y="2011680"/>
            <a:ext cx="1261872" cy="2697480"/>
          </a:xfrm>
          <a:prstGeom prst="roundRect">
            <a:avLst>
              <a:gd fmla="val 5072" name="adj"/>
            </a:avLst>
          </a:prstGeom>
          <a:solidFill>
            <a:srgbClr val="EDEEFB"/>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
          <p:cNvSpPr/>
          <p:nvPr/>
        </p:nvSpPr>
        <p:spPr>
          <a:xfrm>
            <a:off x="3282696" y="2148840"/>
            <a:ext cx="1261872"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91"/>
              </a:buClr>
              <a:buSzPts val="4400"/>
              <a:buFont typeface="Arial"/>
              <a:buNone/>
            </a:pPr>
            <a:r>
              <a:rPr b="1" i="0" lang="en-US" sz="4400" u="none" cap="none" strike="noStrike">
                <a:solidFill>
                  <a:srgbClr val="000091"/>
                </a:solidFill>
                <a:latin typeface="Arial"/>
                <a:ea typeface="Arial"/>
                <a:cs typeface="Arial"/>
                <a:sym typeface="Arial"/>
              </a:rPr>
              <a:t>G</a:t>
            </a:r>
            <a:endParaRPr b="0" i="0" sz="4400" u="none" cap="none" strike="noStrike">
              <a:solidFill>
                <a:schemeClr val="dk1"/>
              </a:solidFill>
              <a:latin typeface="Calibri"/>
              <a:ea typeface="Calibri"/>
              <a:cs typeface="Calibri"/>
              <a:sym typeface="Calibri"/>
            </a:endParaRPr>
          </a:p>
        </p:txBody>
      </p:sp>
      <p:sp>
        <p:nvSpPr>
          <p:cNvPr id="180" name="Google Shape;180;p9"/>
          <p:cNvSpPr/>
          <p:nvPr/>
        </p:nvSpPr>
        <p:spPr>
          <a:xfrm>
            <a:off x="3355848" y="2880360"/>
            <a:ext cx="111556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B0F"/>
              </a:buClr>
              <a:buSzPts val="1300"/>
              <a:buFont typeface="Arial"/>
              <a:buNone/>
            </a:pPr>
            <a:r>
              <a:rPr b="1" i="0" lang="en-US" sz="1300" u="none" cap="none" strike="noStrike">
                <a:solidFill>
                  <a:srgbClr val="0B0B0F"/>
                </a:solidFill>
                <a:latin typeface="Arial"/>
                <a:ea typeface="Arial"/>
                <a:cs typeface="Arial"/>
                <a:sym typeface="Arial"/>
              </a:rPr>
              <a:t>Gouverner</a:t>
            </a:r>
            <a:endParaRPr b="0" i="0" sz="1300" u="none" cap="none" strike="noStrike">
              <a:solidFill>
                <a:schemeClr val="dk1"/>
              </a:solidFill>
              <a:latin typeface="Calibri"/>
              <a:ea typeface="Calibri"/>
              <a:cs typeface="Calibri"/>
              <a:sym typeface="Calibri"/>
            </a:endParaRPr>
          </a:p>
        </p:txBody>
      </p:sp>
      <p:sp>
        <p:nvSpPr>
          <p:cNvPr id="181" name="Google Shape;181;p9"/>
          <p:cNvSpPr/>
          <p:nvPr/>
        </p:nvSpPr>
        <p:spPr>
          <a:xfrm>
            <a:off x="3374136" y="3246120"/>
            <a:ext cx="1078992"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5A66"/>
              </a:buClr>
              <a:buSzPts val="950"/>
              <a:buFont typeface="Calibri"/>
              <a:buNone/>
            </a:pPr>
            <a:r>
              <a:rPr b="0" i="0" lang="en-US" sz="950" u="none" cap="none" strike="noStrike">
                <a:solidFill>
                  <a:srgbClr val="5A5A66"/>
                </a:solidFill>
                <a:latin typeface="Calibri"/>
                <a:ea typeface="Calibri"/>
                <a:cs typeface="Calibri"/>
                <a:sym typeface="Calibri"/>
              </a:rPr>
              <a:t>Cadre AI Act, RGPD et secret professionnel posé avant tout déploiement</a:t>
            </a:r>
            <a:endParaRPr b="0" i="0" sz="950" u="none" cap="none" strike="noStrike">
              <a:solidFill>
                <a:schemeClr val="dk1"/>
              </a:solidFill>
              <a:latin typeface="Calibri"/>
              <a:ea typeface="Calibri"/>
              <a:cs typeface="Calibri"/>
              <a:sym typeface="Calibri"/>
            </a:endParaRPr>
          </a:p>
        </p:txBody>
      </p:sp>
      <p:sp>
        <p:nvSpPr>
          <p:cNvPr id="182" name="Google Shape;182;p9"/>
          <p:cNvSpPr/>
          <p:nvPr/>
        </p:nvSpPr>
        <p:spPr>
          <a:xfrm>
            <a:off x="4672584" y="2011680"/>
            <a:ext cx="1261872" cy="2697480"/>
          </a:xfrm>
          <a:prstGeom prst="roundRect">
            <a:avLst>
              <a:gd fmla="val 5072" name="adj"/>
            </a:avLst>
          </a:prstGeom>
          <a:solidFill>
            <a:srgbClr val="EDEEFB"/>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p:nvPr/>
        </p:nvSpPr>
        <p:spPr>
          <a:xfrm>
            <a:off x="4672584" y="2148840"/>
            <a:ext cx="1261872"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91"/>
              </a:buClr>
              <a:buSzPts val="4400"/>
              <a:buFont typeface="Arial"/>
              <a:buNone/>
            </a:pPr>
            <a:r>
              <a:rPr b="1" i="0" lang="en-US" sz="4400" u="none" cap="none" strike="noStrike">
                <a:solidFill>
                  <a:srgbClr val="000091"/>
                </a:solidFill>
                <a:latin typeface="Arial"/>
                <a:ea typeface="Arial"/>
                <a:cs typeface="Arial"/>
                <a:sym typeface="Arial"/>
              </a:rPr>
              <a:t>N</a:t>
            </a:r>
            <a:endParaRPr b="0" i="0" sz="4400" u="none" cap="none" strike="noStrike">
              <a:solidFill>
                <a:schemeClr val="dk1"/>
              </a:solidFill>
              <a:latin typeface="Calibri"/>
              <a:ea typeface="Calibri"/>
              <a:cs typeface="Calibri"/>
              <a:sym typeface="Calibri"/>
            </a:endParaRPr>
          </a:p>
        </p:txBody>
      </p:sp>
      <p:sp>
        <p:nvSpPr>
          <p:cNvPr id="184" name="Google Shape;184;p9"/>
          <p:cNvSpPr/>
          <p:nvPr/>
        </p:nvSpPr>
        <p:spPr>
          <a:xfrm>
            <a:off x="4745736" y="2880360"/>
            <a:ext cx="111556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B0F"/>
              </a:buClr>
              <a:buSzPts val="1300"/>
              <a:buFont typeface="Arial"/>
              <a:buNone/>
            </a:pPr>
            <a:r>
              <a:rPr b="1" i="0" lang="en-US" sz="1300" u="none" cap="none" strike="noStrike">
                <a:solidFill>
                  <a:srgbClr val="0B0B0F"/>
                </a:solidFill>
                <a:latin typeface="Arial"/>
                <a:ea typeface="Arial"/>
                <a:cs typeface="Arial"/>
                <a:sym typeface="Arial"/>
              </a:rPr>
              <a:t>Normaliser</a:t>
            </a:r>
            <a:endParaRPr b="0" i="0" sz="1300" u="none" cap="none" strike="noStrike">
              <a:solidFill>
                <a:schemeClr val="dk1"/>
              </a:solidFill>
              <a:latin typeface="Calibri"/>
              <a:ea typeface="Calibri"/>
              <a:cs typeface="Calibri"/>
              <a:sym typeface="Calibri"/>
            </a:endParaRPr>
          </a:p>
        </p:txBody>
      </p:sp>
      <p:sp>
        <p:nvSpPr>
          <p:cNvPr id="185" name="Google Shape;185;p9"/>
          <p:cNvSpPr/>
          <p:nvPr/>
        </p:nvSpPr>
        <p:spPr>
          <a:xfrm>
            <a:off x="4764024" y="3246120"/>
            <a:ext cx="1078992"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5A66"/>
              </a:buClr>
              <a:buSzPts val="950"/>
              <a:buFont typeface="Calibri"/>
              <a:buNone/>
            </a:pPr>
            <a:r>
              <a:rPr b="0" i="0" lang="en-US" sz="950" u="none" cap="none" strike="noStrike">
                <a:solidFill>
                  <a:srgbClr val="5A5A66"/>
                </a:solidFill>
                <a:latin typeface="Calibri"/>
                <a:ea typeface="Calibri"/>
                <a:cs typeface="Calibri"/>
                <a:sym typeface="Calibri"/>
              </a:rPr>
              <a:t>Infrastructure souveraine et socle LLM agnostique installés</a:t>
            </a:r>
            <a:endParaRPr b="0" i="0" sz="950" u="none" cap="none" strike="noStrike">
              <a:solidFill>
                <a:schemeClr val="dk1"/>
              </a:solidFill>
              <a:latin typeface="Calibri"/>
              <a:ea typeface="Calibri"/>
              <a:cs typeface="Calibri"/>
              <a:sym typeface="Calibri"/>
            </a:endParaRPr>
          </a:p>
        </p:txBody>
      </p:sp>
      <p:sp>
        <p:nvSpPr>
          <p:cNvPr id="186" name="Google Shape;186;p9"/>
          <p:cNvSpPr/>
          <p:nvPr/>
        </p:nvSpPr>
        <p:spPr>
          <a:xfrm>
            <a:off x="6062472" y="2011680"/>
            <a:ext cx="1261872" cy="2697480"/>
          </a:xfrm>
          <a:prstGeom prst="roundRect">
            <a:avLst>
              <a:gd fmla="val 5072" name="adj"/>
            </a:avLst>
          </a:prstGeom>
          <a:solidFill>
            <a:srgbClr val="F4F5FA"/>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p:nvPr/>
        </p:nvSpPr>
        <p:spPr>
          <a:xfrm>
            <a:off x="6062472" y="2148840"/>
            <a:ext cx="1261872"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91"/>
              </a:buClr>
              <a:buSzPts val="4400"/>
              <a:buFont typeface="Arial"/>
              <a:buNone/>
            </a:pPr>
            <a:r>
              <a:rPr b="1" i="0" lang="en-US" sz="4400" u="none" cap="none" strike="noStrike">
                <a:solidFill>
                  <a:srgbClr val="000091"/>
                </a:solidFill>
                <a:latin typeface="Arial"/>
                <a:ea typeface="Arial"/>
                <a:cs typeface="Arial"/>
                <a:sym typeface="Arial"/>
              </a:rPr>
              <a:t>A</a:t>
            </a:r>
            <a:endParaRPr b="0" i="0" sz="4400" u="none" cap="none" strike="noStrike">
              <a:solidFill>
                <a:schemeClr val="dk1"/>
              </a:solidFill>
              <a:latin typeface="Calibri"/>
              <a:ea typeface="Calibri"/>
              <a:cs typeface="Calibri"/>
              <a:sym typeface="Calibri"/>
            </a:endParaRPr>
          </a:p>
        </p:txBody>
      </p:sp>
      <p:sp>
        <p:nvSpPr>
          <p:cNvPr id="188" name="Google Shape;188;p9"/>
          <p:cNvSpPr/>
          <p:nvPr/>
        </p:nvSpPr>
        <p:spPr>
          <a:xfrm>
            <a:off x="6135624" y="2880360"/>
            <a:ext cx="111556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B0F"/>
              </a:buClr>
              <a:buSzPts val="1300"/>
              <a:buFont typeface="Arial"/>
              <a:buNone/>
            </a:pPr>
            <a:r>
              <a:rPr b="1" i="0" lang="en-US" sz="1300" u="none" cap="none" strike="noStrike">
                <a:solidFill>
                  <a:srgbClr val="0B0B0F"/>
                </a:solidFill>
                <a:latin typeface="Arial"/>
                <a:ea typeface="Arial"/>
                <a:cs typeface="Arial"/>
                <a:sym typeface="Arial"/>
              </a:rPr>
              <a:t>Automatiser</a:t>
            </a:r>
            <a:endParaRPr b="0" i="0" sz="1300" u="none" cap="none" strike="noStrike">
              <a:solidFill>
                <a:schemeClr val="dk1"/>
              </a:solidFill>
              <a:latin typeface="Calibri"/>
              <a:ea typeface="Calibri"/>
              <a:cs typeface="Calibri"/>
              <a:sym typeface="Calibri"/>
            </a:endParaRPr>
          </a:p>
        </p:txBody>
      </p:sp>
      <p:sp>
        <p:nvSpPr>
          <p:cNvPr id="189" name="Google Shape;189;p9"/>
          <p:cNvSpPr/>
          <p:nvPr/>
        </p:nvSpPr>
        <p:spPr>
          <a:xfrm>
            <a:off x="6153912" y="3246120"/>
            <a:ext cx="1078992"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5A66"/>
              </a:buClr>
              <a:buSzPts val="950"/>
              <a:buFont typeface="Calibri"/>
              <a:buNone/>
            </a:pPr>
            <a:r>
              <a:rPr b="0" i="0" lang="en-US" sz="950" u="none" cap="none" strike="noStrike">
                <a:solidFill>
                  <a:srgbClr val="5A5A66"/>
                </a:solidFill>
                <a:latin typeface="Calibri"/>
                <a:ea typeface="Calibri"/>
                <a:cs typeface="Calibri"/>
                <a:sym typeface="Calibri"/>
              </a:rPr>
              <a:t>Agents déployés dans vos outils, supervisés par vos équipes</a:t>
            </a:r>
            <a:endParaRPr b="0" i="0" sz="950" u="none" cap="none" strike="noStrike">
              <a:solidFill>
                <a:schemeClr val="dk1"/>
              </a:solidFill>
              <a:latin typeface="Calibri"/>
              <a:ea typeface="Calibri"/>
              <a:cs typeface="Calibri"/>
              <a:sym typeface="Calibri"/>
            </a:endParaRPr>
          </a:p>
        </p:txBody>
      </p:sp>
      <p:sp>
        <p:nvSpPr>
          <p:cNvPr id="190" name="Google Shape;190;p9"/>
          <p:cNvSpPr/>
          <p:nvPr/>
        </p:nvSpPr>
        <p:spPr>
          <a:xfrm>
            <a:off x="7452360" y="2011680"/>
            <a:ext cx="1261872" cy="2697480"/>
          </a:xfrm>
          <a:prstGeom prst="roundRect">
            <a:avLst>
              <a:gd fmla="val 5072" name="adj"/>
            </a:avLst>
          </a:prstGeom>
          <a:solidFill>
            <a:srgbClr val="F4F5FA"/>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p:nvPr/>
        </p:nvSpPr>
        <p:spPr>
          <a:xfrm>
            <a:off x="7452360" y="2148840"/>
            <a:ext cx="1261872"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91"/>
              </a:buClr>
              <a:buSzPts val="4400"/>
              <a:buFont typeface="Arial"/>
              <a:buNone/>
            </a:pPr>
            <a:r>
              <a:rPr b="1" i="0" lang="en-US" sz="4400" u="none" cap="none" strike="noStrike">
                <a:solidFill>
                  <a:srgbClr val="000091"/>
                </a:solidFill>
                <a:latin typeface="Arial"/>
                <a:ea typeface="Arial"/>
                <a:cs typeface="Arial"/>
                <a:sym typeface="Arial"/>
              </a:rPr>
              <a:t>L</a:t>
            </a:r>
            <a:endParaRPr b="0" i="0" sz="4400" u="none" cap="none" strike="noStrike">
              <a:solidFill>
                <a:schemeClr val="dk1"/>
              </a:solidFill>
              <a:latin typeface="Calibri"/>
              <a:ea typeface="Calibri"/>
              <a:cs typeface="Calibri"/>
              <a:sym typeface="Calibri"/>
            </a:endParaRPr>
          </a:p>
        </p:txBody>
      </p:sp>
      <p:sp>
        <p:nvSpPr>
          <p:cNvPr id="192" name="Google Shape;192;p9"/>
          <p:cNvSpPr/>
          <p:nvPr/>
        </p:nvSpPr>
        <p:spPr>
          <a:xfrm>
            <a:off x="7525512" y="2880360"/>
            <a:ext cx="111556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B0F"/>
              </a:buClr>
              <a:buSzPts val="1300"/>
              <a:buFont typeface="Arial"/>
              <a:buNone/>
            </a:pPr>
            <a:r>
              <a:rPr b="1" i="0" lang="en-US" sz="1300" u="none" cap="none" strike="noStrike">
                <a:solidFill>
                  <a:srgbClr val="0B0B0F"/>
                </a:solidFill>
                <a:latin typeface="Arial"/>
                <a:ea typeface="Arial"/>
                <a:cs typeface="Arial"/>
                <a:sym typeface="Arial"/>
              </a:rPr>
              <a:t>Libérer</a:t>
            </a:r>
            <a:endParaRPr b="0" i="0" sz="1300" u="none" cap="none" strike="noStrike">
              <a:solidFill>
                <a:schemeClr val="dk1"/>
              </a:solidFill>
              <a:latin typeface="Calibri"/>
              <a:ea typeface="Calibri"/>
              <a:cs typeface="Calibri"/>
              <a:sym typeface="Calibri"/>
            </a:endParaRPr>
          </a:p>
        </p:txBody>
      </p:sp>
      <p:sp>
        <p:nvSpPr>
          <p:cNvPr id="193" name="Google Shape;193;p9"/>
          <p:cNvSpPr/>
          <p:nvPr/>
        </p:nvSpPr>
        <p:spPr>
          <a:xfrm>
            <a:off x="7543800" y="3246120"/>
            <a:ext cx="1078992"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5A66"/>
              </a:buClr>
              <a:buSzPts val="950"/>
              <a:buFont typeface="Calibri"/>
              <a:buNone/>
            </a:pPr>
            <a:r>
              <a:rPr b="0" i="0" lang="en-US" sz="950" u="none" cap="none" strike="noStrike">
                <a:solidFill>
                  <a:srgbClr val="5A5A66"/>
                </a:solidFill>
                <a:latin typeface="Calibri"/>
                <a:ea typeface="Calibri"/>
                <a:cs typeface="Calibri"/>
                <a:sym typeface="Calibri"/>
              </a:rPr>
              <a:t>Temps mesuré, équipes formées, compétences transférées</a:t>
            </a:r>
            <a:endParaRPr b="0" i="0" sz="950" u="none" cap="none" strike="noStrike">
              <a:solidFill>
                <a:schemeClr val="dk1"/>
              </a:solidFill>
              <a:latin typeface="Calibri"/>
              <a:ea typeface="Calibri"/>
              <a:cs typeface="Calibri"/>
              <a:sym typeface="Calibri"/>
            </a:endParaRPr>
          </a:p>
        </p:txBody>
      </p:sp>
      <p:sp>
        <p:nvSpPr>
          <p:cNvPr id="194" name="Google Shape;194;p9"/>
          <p:cNvSpPr/>
          <p:nvPr/>
        </p:nvSpPr>
        <p:spPr>
          <a:xfrm>
            <a:off x="502920" y="4800600"/>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1100"/>
              <a:buFont typeface="Calibri"/>
              <a:buNone/>
            </a:pPr>
            <a:r>
              <a:rPr b="0" i="1" lang="en-US" sz="1100" u="none" cap="none" strike="noStrike">
                <a:solidFill>
                  <a:srgbClr val="000091"/>
                </a:solidFill>
                <a:latin typeface="Calibri"/>
                <a:ea typeface="Calibri"/>
                <a:cs typeface="Calibri"/>
                <a:sym typeface="Calibri"/>
              </a:rPr>
              <a:t>Les étapes Gouverner et Normaliser sont notre différence : c'est là que se joue la conformité et la souveraineté.</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 name="Shape 199"/>
        <p:cNvGrpSpPr/>
        <p:nvPr/>
      </p:nvGrpSpPr>
      <p:grpSpPr>
        <a:xfrm>
          <a:off x="0" y="0"/>
          <a:ext cx="0" cy="0"/>
          <a:chOff x="0" y="0"/>
          <a:chExt cx="0" cy="0"/>
        </a:xfrm>
      </p:grpSpPr>
      <p:sp>
        <p:nvSpPr>
          <p:cNvPr id="200" name="Google Shape;200;p10"/>
          <p:cNvSpPr/>
          <p:nvPr/>
        </p:nvSpPr>
        <p:spPr>
          <a:xfrm>
            <a:off x="502920" y="292608"/>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1100"/>
              <a:buFont typeface="Arial"/>
              <a:buNone/>
            </a:pPr>
            <a:r>
              <a:rPr b="1" i="0" lang="en-US" sz="1100" u="none" cap="none" strike="noStrike">
                <a:solidFill>
                  <a:srgbClr val="000091"/>
                </a:solidFill>
                <a:latin typeface="Arial"/>
                <a:ea typeface="Arial"/>
                <a:cs typeface="Arial"/>
                <a:sym typeface="Arial"/>
              </a:rPr>
              <a:t>L'ARCHITECTURE</a:t>
            </a:r>
            <a:endParaRPr b="0" i="0" sz="1100" u="none" cap="none" strike="noStrike">
              <a:solidFill>
                <a:schemeClr val="dk1"/>
              </a:solidFill>
              <a:latin typeface="Calibri"/>
              <a:ea typeface="Calibri"/>
              <a:cs typeface="Calibri"/>
              <a:sym typeface="Calibri"/>
            </a:endParaRPr>
          </a:p>
        </p:txBody>
      </p:sp>
      <p:sp>
        <p:nvSpPr>
          <p:cNvPr id="201" name="Google Shape;201;p10"/>
          <p:cNvSpPr/>
          <p:nvPr/>
        </p:nvSpPr>
        <p:spPr>
          <a:xfrm>
            <a:off x="502920" y="530352"/>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3000"/>
              <a:buFont typeface="Arial"/>
              <a:buNone/>
            </a:pPr>
            <a:r>
              <a:rPr b="1" i="0" lang="en-US" sz="3000" u="none" cap="none" strike="noStrike">
                <a:solidFill>
                  <a:srgbClr val="0B0B0F"/>
                </a:solidFill>
                <a:latin typeface="Arial"/>
                <a:ea typeface="Arial"/>
                <a:cs typeface="Arial"/>
                <a:sym typeface="Arial"/>
              </a:rPr>
              <a:t>Souverain sur les données. Agnostique sur les modèles.</a:t>
            </a:r>
            <a:endParaRPr b="0" i="0" sz="3000" u="none" cap="none" strike="noStrike">
              <a:solidFill>
                <a:schemeClr val="dk1"/>
              </a:solidFill>
              <a:latin typeface="Calibri"/>
              <a:ea typeface="Calibri"/>
              <a:cs typeface="Calibri"/>
              <a:sym typeface="Calibri"/>
            </a:endParaRPr>
          </a:p>
        </p:txBody>
      </p:sp>
      <p:sp>
        <p:nvSpPr>
          <p:cNvPr id="202" name="Google Shape;202;p10"/>
          <p:cNvSpPr/>
          <p:nvPr/>
        </p:nvSpPr>
        <p:spPr>
          <a:xfrm>
            <a:off x="3108960" y="1874520"/>
            <a:ext cx="2926080" cy="1737360"/>
          </a:xfrm>
          <a:prstGeom prst="roundRect">
            <a:avLst>
              <a:gd fmla="val 4737" name="adj"/>
            </a:avLst>
          </a:prstGeom>
          <a:solidFill>
            <a:srgbClr val="000091"/>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
          <p:cNvSpPr/>
          <p:nvPr/>
        </p:nvSpPr>
        <p:spPr>
          <a:xfrm>
            <a:off x="3108960" y="2057400"/>
            <a:ext cx="29260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E9EFF"/>
              </a:buClr>
              <a:buSzPts val="1200"/>
              <a:buFont typeface="Arial"/>
              <a:buNone/>
            </a:pPr>
            <a:r>
              <a:rPr b="1" i="0" lang="en-US" sz="1200" u="none" cap="none" strike="noStrike">
                <a:solidFill>
                  <a:srgbClr val="9E9EFF"/>
                </a:solidFill>
                <a:latin typeface="Arial"/>
                <a:ea typeface="Arial"/>
                <a:cs typeface="Arial"/>
                <a:sym typeface="Arial"/>
              </a:rPr>
              <a:t>VOTRE SOCLE</a:t>
            </a:r>
            <a:endParaRPr b="0" i="0" sz="1200" u="none" cap="none" strike="noStrike">
              <a:solidFill>
                <a:schemeClr val="dk1"/>
              </a:solidFill>
              <a:latin typeface="Calibri"/>
              <a:ea typeface="Calibri"/>
              <a:cs typeface="Calibri"/>
              <a:sym typeface="Calibri"/>
            </a:endParaRPr>
          </a:p>
        </p:txBody>
      </p:sp>
      <p:sp>
        <p:nvSpPr>
          <p:cNvPr id="204" name="Google Shape;204;p10"/>
          <p:cNvSpPr/>
          <p:nvPr/>
        </p:nvSpPr>
        <p:spPr>
          <a:xfrm>
            <a:off x="3291840" y="2377440"/>
            <a:ext cx="25603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Données, documents et mémoire métier hébergés en France ou chez vous</a:t>
            </a:r>
            <a:endParaRPr b="0" i="0" sz="1250" u="none" cap="none" strike="noStrike">
              <a:solidFill>
                <a:schemeClr val="dk1"/>
              </a:solidFill>
              <a:latin typeface="Calibri"/>
              <a:ea typeface="Calibri"/>
              <a:cs typeface="Calibri"/>
              <a:sym typeface="Calibri"/>
            </a:endParaRPr>
          </a:p>
        </p:txBody>
      </p:sp>
      <p:sp>
        <p:nvSpPr>
          <p:cNvPr id="205" name="Google Shape;205;p10"/>
          <p:cNvSpPr/>
          <p:nvPr/>
        </p:nvSpPr>
        <p:spPr>
          <a:xfrm>
            <a:off x="502920" y="1874520"/>
            <a:ext cx="2194560" cy="1737360"/>
          </a:xfrm>
          <a:prstGeom prst="roundRect">
            <a:avLst>
              <a:gd fmla="val 4737" name="adj"/>
            </a:avLst>
          </a:prstGeom>
          <a:solidFill>
            <a:srgbClr val="F4F5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0"/>
          <p:cNvSpPr/>
          <p:nvPr/>
        </p:nvSpPr>
        <p:spPr>
          <a:xfrm>
            <a:off x="502920" y="2057400"/>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91"/>
              </a:buClr>
              <a:buSzPts val="1200"/>
              <a:buFont typeface="Arial"/>
              <a:buNone/>
            </a:pPr>
            <a:r>
              <a:rPr b="1" i="0" lang="en-US" sz="1200" u="none" cap="none" strike="noStrike">
                <a:solidFill>
                  <a:srgbClr val="000091"/>
                </a:solidFill>
                <a:latin typeface="Arial"/>
                <a:ea typeface="Arial"/>
                <a:cs typeface="Arial"/>
                <a:sym typeface="Arial"/>
              </a:rPr>
              <a:t>VOS OUTILS</a:t>
            </a:r>
            <a:endParaRPr b="0" i="0" sz="1200" u="none" cap="none" strike="noStrike">
              <a:solidFill>
                <a:schemeClr val="dk1"/>
              </a:solidFill>
              <a:latin typeface="Calibri"/>
              <a:ea typeface="Calibri"/>
              <a:cs typeface="Calibri"/>
              <a:sym typeface="Calibri"/>
            </a:endParaRPr>
          </a:p>
        </p:txBody>
      </p:sp>
      <p:sp>
        <p:nvSpPr>
          <p:cNvPr id="207" name="Google Shape;207;p10"/>
          <p:cNvSpPr/>
          <p:nvPr/>
        </p:nvSpPr>
        <p:spPr>
          <a:xfrm>
            <a:off x="658368" y="2395728"/>
            <a:ext cx="1883664"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5A66"/>
              </a:buClr>
              <a:buSzPts val="1150"/>
              <a:buFont typeface="Calibri"/>
              <a:buNone/>
            </a:pPr>
            <a:r>
              <a:rPr b="0" i="0" lang="en-US" sz="1150" u="none" cap="none" strike="noStrike">
                <a:solidFill>
                  <a:srgbClr val="5A5A66"/>
                </a:solidFill>
                <a:latin typeface="Calibri"/>
                <a:ea typeface="Calibri"/>
                <a:cs typeface="Calibri"/>
                <a:sym typeface="Calibri"/>
              </a:rPr>
              <a:t>CRM, ERP, messagerie, logiciels métier : les agents s'y branchent, ils ne les remplacent pas</a:t>
            </a:r>
            <a:endParaRPr b="0" i="0" sz="1150" u="none" cap="none" strike="noStrike">
              <a:solidFill>
                <a:schemeClr val="dk1"/>
              </a:solidFill>
              <a:latin typeface="Calibri"/>
              <a:ea typeface="Calibri"/>
              <a:cs typeface="Calibri"/>
              <a:sym typeface="Calibri"/>
            </a:endParaRPr>
          </a:p>
        </p:txBody>
      </p:sp>
      <p:sp>
        <p:nvSpPr>
          <p:cNvPr id="208" name="Google Shape;208;p10"/>
          <p:cNvSpPr/>
          <p:nvPr/>
        </p:nvSpPr>
        <p:spPr>
          <a:xfrm>
            <a:off x="6446520" y="1874520"/>
            <a:ext cx="2194560" cy="1737360"/>
          </a:xfrm>
          <a:prstGeom prst="roundRect">
            <a:avLst>
              <a:gd fmla="val 4737" name="adj"/>
            </a:avLst>
          </a:prstGeom>
          <a:solidFill>
            <a:srgbClr val="F4F5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0"/>
          <p:cNvSpPr/>
          <p:nvPr/>
        </p:nvSpPr>
        <p:spPr>
          <a:xfrm>
            <a:off x="6446520" y="2057400"/>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91"/>
              </a:buClr>
              <a:buSzPts val="1200"/>
              <a:buFont typeface="Arial"/>
              <a:buNone/>
            </a:pPr>
            <a:r>
              <a:rPr b="1" i="0" lang="en-US" sz="1200" u="none" cap="none" strike="noStrike">
                <a:solidFill>
                  <a:srgbClr val="000091"/>
                </a:solidFill>
                <a:latin typeface="Arial"/>
                <a:ea typeface="Arial"/>
                <a:cs typeface="Arial"/>
                <a:sym typeface="Arial"/>
              </a:rPr>
              <a:t>LES MODÈLES</a:t>
            </a:r>
            <a:endParaRPr b="0" i="0" sz="1200" u="none" cap="none" strike="noStrike">
              <a:solidFill>
                <a:schemeClr val="dk1"/>
              </a:solidFill>
              <a:latin typeface="Calibri"/>
              <a:ea typeface="Calibri"/>
              <a:cs typeface="Calibri"/>
              <a:sym typeface="Calibri"/>
            </a:endParaRPr>
          </a:p>
        </p:txBody>
      </p:sp>
      <p:sp>
        <p:nvSpPr>
          <p:cNvPr id="210" name="Google Shape;210;p10"/>
          <p:cNvSpPr/>
          <p:nvPr/>
        </p:nvSpPr>
        <p:spPr>
          <a:xfrm>
            <a:off x="6583680" y="2395728"/>
            <a:ext cx="192024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5A66"/>
              </a:buClr>
              <a:buSzPts val="1150"/>
              <a:buFont typeface="Calibri"/>
              <a:buNone/>
            </a:pPr>
            <a:r>
              <a:rPr b="0" i="0" lang="en-US" sz="1150" u="none" cap="none" strike="noStrike">
                <a:solidFill>
                  <a:srgbClr val="5A5A66"/>
                </a:solidFill>
                <a:latin typeface="Calibri"/>
                <a:ea typeface="Calibri"/>
                <a:cs typeface="Calibri"/>
                <a:sym typeface="Calibri"/>
              </a:rPr>
              <a:t>Mistral, Claude, GPT, Gemini, open source local : interchangeables selon la tâche et le niveau de confidentialité</a:t>
            </a:r>
            <a:endParaRPr b="0" i="0" sz="1150" u="none" cap="none" strike="noStrike">
              <a:solidFill>
                <a:schemeClr val="dk1"/>
              </a:solidFill>
              <a:latin typeface="Calibri"/>
              <a:ea typeface="Calibri"/>
              <a:cs typeface="Calibri"/>
              <a:sym typeface="Calibri"/>
            </a:endParaRPr>
          </a:p>
        </p:txBody>
      </p:sp>
      <p:cxnSp>
        <p:nvCxnSpPr>
          <p:cNvPr id="211" name="Google Shape;211;p10"/>
          <p:cNvCxnSpPr/>
          <p:nvPr/>
        </p:nvCxnSpPr>
        <p:spPr>
          <a:xfrm>
            <a:off x="2724912" y="2743200"/>
            <a:ext cx="365760" cy="0"/>
          </a:xfrm>
          <a:prstGeom prst="straightConnector1">
            <a:avLst/>
          </a:prstGeom>
          <a:noFill/>
          <a:ln cap="flat" cmpd="sng" w="31750">
            <a:solidFill>
              <a:srgbClr val="000091"/>
            </a:solidFill>
            <a:prstDash val="solid"/>
            <a:round/>
            <a:headEnd len="med" w="med" type="stealth"/>
            <a:tailEnd len="med" w="med" type="stealth"/>
          </a:ln>
        </p:spPr>
      </p:cxnSp>
      <p:cxnSp>
        <p:nvCxnSpPr>
          <p:cNvPr id="212" name="Google Shape;212;p10"/>
          <p:cNvCxnSpPr/>
          <p:nvPr/>
        </p:nvCxnSpPr>
        <p:spPr>
          <a:xfrm>
            <a:off x="6053328" y="2743200"/>
            <a:ext cx="365760" cy="0"/>
          </a:xfrm>
          <a:prstGeom prst="straightConnector1">
            <a:avLst/>
          </a:prstGeom>
          <a:noFill/>
          <a:ln cap="flat" cmpd="sng" w="31750">
            <a:solidFill>
              <a:srgbClr val="000091"/>
            </a:solidFill>
            <a:prstDash val="solid"/>
            <a:round/>
            <a:headEnd len="med" w="med" type="stealth"/>
            <a:tailEnd len="med" w="med" type="stealth"/>
          </a:ln>
        </p:spPr>
      </p:cxnSp>
      <p:sp>
        <p:nvSpPr>
          <p:cNvPr id="213" name="Google Shape;213;p10"/>
          <p:cNvSpPr/>
          <p:nvPr/>
        </p:nvSpPr>
        <p:spPr>
          <a:xfrm>
            <a:off x="502920" y="4437555"/>
            <a:ext cx="402300" cy="402300"/>
          </a:xfrm>
          <a:prstGeom prst="ellipse">
            <a:avLst/>
          </a:prstGeom>
          <a:solidFill>
            <a:srgbClr val="EDEE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4" name="Google Shape;214;p10"/>
          <p:cNvPicPr preferRelativeResize="0"/>
          <p:nvPr/>
        </p:nvPicPr>
        <p:blipFill rotWithShape="1">
          <a:blip r:embed="rId3">
            <a:alphaModFix/>
          </a:blip>
          <a:srcRect b="0" l="0" r="0" t="0"/>
          <a:stretch/>
        </p:blipFill>
        <p:spPr>
          <a:xfrm>
            <a:off x="607527" y="4542162"/>
            <a:ext cx="193121" cy="193121"/>
          </a:xfrm>
          <a:prstGeom prst="rect">
            <a:avLst/>
          </a:prstGeom>
          <a:noFill/>
          <a:ln>
            <a:noFill/>
          </a:ln>
        </p:spPr>
      </p:pic>
      <p:sp>
        <p:nvSpPr>
          <p:cNvPr id="215" name="Google Shape;215;p10"/>
          <p:cNvSpPr/>
          <p:nvPr/>
        </p:nvSpPr>
        <p:spPr>
          <a:xfrm>
            <a:off x="1014984" y="4373547"/>
            <a:ext cx="21489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100"/>
              <a:buFont typeface="Calibri"/>
              <a:buNone/>
            </a:pPr>
            <a:r>
              <a:rPr b="0" i="0" lang="en-US" sz="1100" u="none" cap="none" strike="noStrike">
                <a:solidFill>
                  <a:srgbClr val="0B0B0F"/>
                </a:solidFill>
                <a:latin typeface="Calibri"/>
                <a:ea typeface="Calibri"/>
                <a:cs typeface="Calibri"/>
                <a:sym typeface="Calibri"/>
              </a:rPr>
              <a:t>Aucune donnée sensible n'entraîne un modèle tiers</a:t>
            </a:r>
            <a:endParaRPr b="0" i="0" sz="1100" u="none" cap="none" strike="noStrike">
              <a:solidFill>
                <a:schemeClr val="dk1"/>
              </a:solidFill>
              <a:latin typeface="Calibri"/>
              <a:ea typeface="Calibri"/>
              <a:cs typeface="Calibri"/>
              <a:sym typeface="Calibri"/>
            </a:endParaRPr>
          </a:p>
        </p:txBody>
      </p:sp>
      <p:sp>
        <p:nvSpPr>
          <p:cNvPr id="216" name="Google Shape;216;p10"/>
          <p:cNvSpPr/>
          <p:nvPr/>
        </p:nvSpPr>
        <p:spPr>
          <a:xfrm>
            <a:off x="3291840" y="4437555"/>
            <a:ext cx="402300" cy="402300"/>
          </a:xfrm>
          <a:prstGeom prst="ellipse">
            <a:avLst/>
          </a:prstGeom>
          <a:solidFill>
            <a:srgbClr val="EDEE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7" name="Google Shape;217;p10"/>
          <p:cNvPicPr preferRelativeResize="0"/>
          <p:nvPr/>
        </p:nvPicPr>
        <p:blipFill rotWithShape="1">
          <a:blip r:embed="rId4">
            <a:alphaModFix/>
          </a:blip>
          <a:srcRect b="0" l="0" r="0" t="0"/>
          <a:stretch/>
        </p:blipFill>
        <p:spPr>
          <a:xfrm>
            <a:off x="3396447" y="4542162"/>
            <a:ext cx="193121" cy="193121"/>
          </a:xfrm>
          <a:prstGeom prst="rect">
            <a:avLst/>
          </a:prstGeom>
          <a:noFill/>
          <a:ln>
            <a:noFill/>
          </a:ln>
        </p:spPr>
      </p:pic>
      <p:sp>
        <p:nvSpPr>
          <p:cNvPr id="218" name="Google Shape;218;p10"/>
          <p:cNvSpPr/>
          <p:nvPr/>
        </p:nvSpPr>
        <p:spPr>
          <a:xfrm>
            <a:off x="3803904" y="4373547"/>
            <a:ext cx="21489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100"/>
              <a:buFont typeface="Calibri"/>
              <a:buNone/>
            </a:pPr>
            <a:r>
              <a:rPr b="0" i="0" lang="en-US" sz="1100" u="none" cap="none" strike="noStrike">
                <a:solidFill>
                  <a:srgbClr val="0B0B0F"/>
                </a:solidFill>
                <a:latin typeface="Calibri"/>
                <a:ea typeface="Calibri"/>
                <a:cs typeface="Calibri"/>
                <a:sym typeface="Calibri"/>
              </a:rPr>
              <a:t>Changement de modèle sans refonte, en quelques jours</a:t>
            </a:r>
            <a:endParaRPr b="0" i="0" sz="1100" u="none" cap="none" strike="noStrike">
              <a:solidFill>
                <a:schemeClr val="dk1"/>
              </a:solidFill>
              <a:latin typeface="Calibri"/>
              <a:ea typeface="Calibri"/>
              <a:cs typeface="Calibri"/>
              <a:sym typeface="Calibri"/>
            </a:endParaRPr>
          </a:p>
        </p:txBody>
      </p:sp>
      <p:sp>
        <p:nvSpPr>
          <p:cNvPr id="219" name="Google Shape;219;p10"/>
          <p:cNvSpPr/>
          <p:nvPr/>
        </p:nvSpPr>
        <p:spPr>
          <a:xfrm>
            <a:off x="6080760" y="4437555"/>
            <a:ext cx="402300" cy="402300"/>
          </a:xfrm>
          <a:prstGeom prst="ellipse">
            <a:avLst/>
          </a:prstGeom>
          <a:solidFill>
            <a:srgbClr val="EDEE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0" name="Google Shape;220;p10"/>
          <p:cNvPicPr preferRelativeResize="0"/>
          <p:nvPr/>
        </p:nvPicPr>
        <p:blipFill rotWithShape="1">
          <a:blip r:embed="rId5">
            <a:alphaModFix/>
          </a:blip>
          <a:srcRect b="0" l="0" r="0" t="0"/>
          <a:stretch/>
        </p:blipFill>
        <p:spPr>
          <a:xfrm>
            <a:off x="6185367" y="4542162"/>
            <a:ext cx="193121" cy="193121"/>
          </a:xfrm>
          <a:prstGeom prst="rect">
            <a:avLst/>
          </a:prstGeom>
          <a:noFill/>
          <a:ln>
            <a:noFill/>
          </a:ln>
        </p:spPr>
      </p:pic>
      <p:sp>
        <p:nvSpPr>
          <p:cNvPr id="221" name="Google Shape;221;p10"/>
          <p:cNvSpPr/>
          <p:nvPr/>
        </p:nvSpPr>
        <p:spPr>
          <a:xfrm>
            <a:off x="6592824" y="4373547"/>
            <a:ext cx="21489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100"/>
              <a:buFont typeface="Calibri"/>
              <a:buNone/>
            </a:pPr>
            <a:r>
              <a:rPr b="0" i="0" lang="en-US" sz="1100" u="none" cap="none" strike="noStrike">
                <a:solidFill>
                  <a:srgbClr val="0B0B0F"/>
                </a:solidFill>
                <a:latin typeface="Calibri"/>
                <a:ea typeface="Calibri"/>
                <a:cs typeface="Calibri"/>
                <a:sym typeface="Calibri"/>
              </a:rPr>
              <a:t>Vous restez propriétaire du socle, du code et des prompts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F"/>
        </a:solidFill>
      </p:bgPr>
    </p:bg>
    <p:spTree>
      <p:nvGrpSpPr>
        <p:cNvPr id="226" name="Shape 226"/>
        <p:cNvGrpSpPr/>
        <p:nvPr/>
      </p:nvGrpSpPr>
      <p:grpSpPr>
        <a:xfrm>
          <a:off x="0" y="0"/>
          <a:ext cx="0" cy="0"/>
          <a:chOff x="0" y="0"/>
          <a:chExt cx="0" cy="0"/>
        </a:xfrm>
      </p:grpSpPr>
      <p:sp>
        <p:nvSpPr>
          <p:cNvPr id="227" name="Google Shape;227;p11"/>
          <p:cNvSpPr/>
          <p:nvPr/>
        </p:nvSpPr>
        <p:spPr>
          <a:xfrm>
            <a:off x="5760720" y="4352544"/>
            <a:ext cx="50292" cy="118872"/>
          </a:xfrm>
          <a:prstGeom prst="roundRect">
            <a:avLst>
              <a:gd fmla="val 50000" name="adj"/>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1"/>
          <p:cNvSpPr/>
          <p:nvPr/>
        </p:nvSpPr>
        <p:spPr>
          <a:xfrm>
            <a:off x="6075172" y="4263390"/>
            <a:ext cx="50292" cy="297180"/>
          </a:xfrm>
          <a:prstGeom prst="roundRect">
            <a:avLst>
              <a:gd fmla="val 50000" name="adj"/>
            </a:avLst>
          </a:prstGeom>
          <a:solidFill>
            <a:srgbClr val="4A4A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
          <p:cNvSpPr/>
          <p:nvPr/>
        </p:nvSpPr>
        <p:spPr>
          <a:xfrm>
            <a:off x="6389624" y="4144518"/>
            <a:ext cx="50292" cy="534924"/>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a:off x="6704076" y="4233672"/>
            <a:ext cx="50292" cy="356616"/>
          </a:xfrm>
          <a:prstGeom prst="roundRect">
            <a:avLst>
              <a:gd fmla="val 50000" name="adj"/>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a:off x="7018528" y="4114800"/>
            <a:ext cx="50292" cy="594360"/>
          </a:xfrm>
          <a:prstGeom prst="roundRect">
            <a:avLst>
              <a:gd fmla="val 50000" name="adj"/>
            </a:avLst>
          </a:prstGeom>
          <a:solidFill>
            <a:srgbClr val="4A4A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a:off x="7332980" y="4189095"/>
            <a:ext cx="50292" cy="44577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a:off x="7647432" y="4278249"/>
            <a:ext cx="50292" cy="267462"/>
          </a:xfrm>
          <a:prstGeom prst="roundRect">
            <a:avLst>
              <a:gd fmla="val 50000" name="adj"/>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1"/>
          <p:cNvSpPr/>
          <p:nvPr/>
        </p:nvSpPr>
        <p:spPr>
          <a:xfrm>
            <a:off x="7961884" y="4159377"/>
            <a:ext cx="50292" cy="505206"/>
          </a:xfrm>
          <a:prstGeom prst="roundRect">
            <a:avLst>
              <a:gd fmla="val 50000" name="adj"/>
            </a:avLst>
          </a:prstGeom>
          <a:solidFill>
            <a:srgbClr val="4A4A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1"/>
          <p:cNvSpPr/>
          <p:nvPr/>
        </p:nvSpPr>
        <p:spPr>
          <a:xfrm>
            <a:off x="8276336" y="4248531"/>
            <a:ext cx="50292" cy="326898"/>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a:off x="8590788" y="4322826"/>
            <a:ext cx="50292" cy="178308"/>
          </a:xfrm>
          <a:prstGeom prst="roundRect">
            <a:avLst>
              <a:gd fmla="val 50000" name="adj"/>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a:off x="502920" y="292608"/>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FF"/>
              </a:buClr>
              <a:buSzPts val="1100"/>
              <a:buFont typeface="Arial"/>
              <a:buNone/>
            </a:pPr>
            <a:r>
              <a:rPr b="1" i="0" lang="en-US" sz="1100" u="none" cap="none" strike="noStrike">
                <a:solidFill>
                  <a:srgbClr val="8A8AFF"/>
                </a:solidFill>
                <a:latin typeface="Arial"/>
                <a:ea typeface="Arial"/>
                <a:cs typeface="Arial"/>
                <a:sym typeface="Arial"/>
              </a:rPr>
              <a:t>LA PREUVE</a:t>
            </a:r>
            <a:endParaRPr b="0" i="0" sz="1100" u="none" cap="none" strike="noStrike">
              <a:solidFill>
                <a:schemeClr val="dk1"/>
              </a:solidFill>
              <a:latin typeface="Calibri"/>
              <a:ea typeface="Calibri"/>
              <a:cs typeface="Calibri"/>
              <a:sym typeface="Calibri"/>
            </a:endParaRPr>
          </a:p>
        </p:txBody>
      </p:sp>
      <p:sp>
        <p:nvSpPr>
          <p:cNvPr id="238" name="Google Shape;238;p11"/>
          <p:cNvSpPr/>
          <p:nvPr/>
        </p:nvSpPr>
        <p:spPr>
          <a:xfrm>
            <a:off x="502920" y="530352"/>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Pas de slides en rendez vous. Une démo en production.</a:t>
            </a:r>
            <a:endParaRPr b="0" i="0" sz="3000" u="none" cap="none" strike="noStrike">
              <a:solidFill>
                <a:schemeClr val="dk1"/>
              </a:solidFill>
              <a:latin typeface="Calibri"/>
              <a:ea typeface="Calibri"/>
              <a:cs typeface="Calibri"/>
              <a:sym typeface="Calibri"/>
            </a:endParaRPr>
          </a:p>
        </p:txBody>
      </p:sp>
      <p:sp>
        <p:nvSpPr>
          <p:cNvPr id="239" name="Google Shape;239;p11"/>
          <p:cNvSpPr/>
          <p:nvPr/>
        </p:nvSpPr>
        <p:spPr>
          <a:xfrm>
            <a:off x="502920" y="1417320"/>
            <a:ext cx="813816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C9E8"/>
              </a:buClr>
              <a:buSzPts val="1450"/>
              <a:buFont typeface="Calibri"/>
              <a:buNone/>
            </a:pPr>
            <a:r>
              <a:rPr lang="en-US" sz="1450">
                <a:solidFill>
                  <a:srgbClr val="C9C9E8"/>
                </a:solidFill>
                <a:latin typeface="Calibri"/>
                <a:ea typeface="Calibri"/>
                <a:cs typeface="Calibri"/>
                <a:sym typeface="Calibri"/>
              </a:rPr>
              <a:t>REMPARIA</a:t>
            </a:r>
            <a:r>
              <a:rPr b="0" i="0" lang="en-US" sz="1450" cap="none" strike="noStrike">
                <a:solidFill>
                  <a:srgbClr val="C9C9E8"/>
                </a:solidFill>
                <a:latin typeface="Calibri"/>
                <a:ea typeface="Calibri"/>
                <a:cs typeface="Calibri"/>
                <a:sym typeface="Calibri"/>
              </a:rPr>
              <a:t> tourne sur </a:t>
            </a:r>
            <a:r>
              <a:rPr b="0" i="0" lang="en-US" sz="1450" u="none" cap="none" strike="noStrike">
                <a:solidFill>
                  <a:srgbClr val="C9C9E8"/>
                </a:solidFill>
                <a:latin typeface="Calibri"/>
                <a:ea typeface="Calibri"/>
                <a:cs typeface="Calibri"/>
                <a:sym typeface="Calibri"/>
              </a:rPr>
              <a:t>sa propre infrastructure IA : agents autonomes, orchestration, mémoire métier, hébergement souverain. Ce que nous vous proposons, nous l'utilisons tous les jours pour faire tourner notre propre activité. Notre première réunion est une démonstration live de ce système, sur vos cas d'usage, pas une présentation PowerPoint.</a:t>
            </a:r>
            <a:endParaRPr b="0" i="0" sz="1450" u="none" cap="none" strike="noStrike">
              <a:solidFill>
                <a:schemeClr val="dk1"/>
              </a:solidFill>
              <a:latin typeface="Calibri"/>
              <a:ea typeface="Calibri"/>
              <a:cs typeface="Calibri"/>
              <a:sym typeface="Calibri"/>
            </a:endParaRPr>
          </a:p>
        </p:txBody>
      </p:sp>
      <p:sp>
        <p:nvSpPr>
          <p:cNvPr id="240" name="Google Shape;240;p11"/>
          <p:cNvSpPr/>
          <p:nvPr/>
        </p:nvSpPr>
        <p:spPr>
          <a:xfrm>
            <a:off x="502920" y="2697480"/>
            <a:ext cx="2606040" cy="1371600"/>
          </a:xfrm>
          <a:prstGeom prst="roundRect">
            <a:avLst>
              <a:gd fmla="val 5333" name="adj"/>
            </a:avLst>
          </a:prstGeom>
          <a:solidFill>
            <a:srgbClr val="16161F"/>
          </a:solidFill>
          <a:ln cap="flat" cmpd="sng" w="12700">
            <a:solidFill>
              <a:srgbClr val="2A2A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a:off x="704088" y="2852928"/>
            <a:ext cx="548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3000"/>
              <a:buFont typeface="Arial"/>
              <a:buNone/>
            </a:pPr>
            <a:r>
              <a:rPr b="1" i="0" lang="en-US" sz="3000" u="none" cap="none" strike="noStrike">
                <a:solidFill>
                  <a:srgbClr val="000091"/>
                </a:solidFill>
                <a:latin typeface="Arial"/>
                <a:ea typeface="Arial"/>
                <a:cs typeface="Arial"/>
                <a:sym typeface="Arial"/>
              </a:rPr>
              <a:t>1</a:t>
            </a:r>
            <a:endParaRPr b="0" i="0" sz="3000" u="none" cap="none" strike="noStrike">
              <a:solidFill>
                <a:schemeClr val="dk1"/>
              </a:solidFill>
              <a:latin typeface="Calibri"/>
              <a:ea typeface="Calibri"/>
              <a:cs typeface="Calibri"/>
              <a:sym typeface="Calibri"/>
            </a:endParaRPr>
          </a:p>
        </p:txBody>
      </p:sp>
      <p:sp>
        <p:nvSpPr>
          <p:cNvPr id="242" name="Google Shape;242;p11"/>
          <p:cNvSpPr/>
          <p:nvPr/>
        </p:nvSpPr>
        <p:spPr>
          <a:xfrm>
            <a:off x="704088" y="3291840"/>
            <a:ext cx="22402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Vous venez avec un processus qui vous coûte du temps</a:t>
            </a:r>
            <a:endParaRPr b="0" i="0" sz="1200" u="none" cap="none" strike="noStrike">
              <a:solidFill>
                <a:schemeClr val="dk1"/>
              </a:solidFill>
              <a:latin typeface="Calibri"/>
              <a:ea typeface="Calibri"/>
              <a:cs typeface="Calibri"/>
              <a:sym typeface="Calibri"/>
            </a:endParaRPr>
          </a:p>
        </p:txBody>
      </p:sp>
      <p:sp>
        <p:nvSpPr>
          <p:cNvPr id="243" name="Google Shape;243;p11"/>
          <p:cNvSpPr/>
          <p:nvPr/>
        </p:nvSpPr>
        <p:spPr>
          <a:xfrm>
            <a:off x="3291840" y="2697480"/>
            <a:ext cx="2606040" cy="1371600"/>
          </a:xfrm>
          <a:prstGeom prst="roundRect">
            <a:avLst>
              <a:gd fmla="val 5333" name="adj"/>
            </a:avLst>
          </a:prstGeom>
          <a:solidFill>
            <a:srgbClr val="16161F"/>
          </a:solidFill>
          <a:ln cap="flat" cmpd="sng" w="12700">
            <a:solidFill>
              <a:srgbClr val="2A2A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1"/>
          <p:cNvSpPr/>
          <p:nvPr/>
        </p:nvSpPr>
        <p:spPr>
          <a:xfrm>
            <a:off x="3493008" y="2852928"/>
            <a:ext cx="548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3000"/>
              <a:buFont typeface="Arial"/>
              <a:buNone/>
            </a:pPr>
            <a:r>
              <a:rPr b="1" i="0" lang="en-US" sz="3000" u="none" cap="none" strike="noStrike">
                <a:solidFill>
                  <a:srgbClr val="000091"/>
                </a:solidFill>
                <a:latin typeface="Arial"/>
                <a:ea typeface="Arial"/>
                <a:cs typeface="Arial"/>
                <a:sym typeface="Arial"/>
              </a:rPr>
              <a:t>2</a:t>
            </a:r>
            <a:endParaRPr b="0" i="0" sz="3000" u="none" cap="none" strike="noStrike">
              <a:solidFill>
                <a:schemeClr val="dk1"/>
              </a:solidFill>
              <a:latin typeface="Calibri"/>
              <a:ea typeface="Calibri"/>
              <a:cs typeface="Calibri"/>
              <a:sym typeface="Calibri"/>
            </a:endParaRPr>
          </a:p>
        </p:txBody>
      </p:sp>
      <p:sp>
        <p:nvSpPr>
          <p:cNvPr id="245" name="Google Shape;245;p11"/>
          <p:cNvSpPr/>
          <p:nvPr/>
        </p:nvSpPr>
        <p:spPr>
          <a:xfrm>
            <a:off x="3493008" y="3291840"/>
            <a:ext cx="22402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Nous le passons en live dans notre propre système</a:t>
            </a:r>
            <a:endParaRPr b="0" i="0" sz="1200" u="none" cap="none" strike="noStrike">
              <a:solidFill>
                <a:schemeClr val="dk1"/>
              </a:solidFill>
              <a:latin typeface="Calibri"/>
              <a:ea typeface="Calibri"/>
              <a:cs typeface="Calibri"/>
              <a:sym typeface="Calibri"/>
            </a:endParaRPr>
          </a:p>
        </p:txBody>
      </p:sp>
      <p:sp>
        <p:nvSpPr>
          <p:cNvPr id="246" name="Google Shape;246;p11"/>
          <p:cNvSpPr/>
          <p:nvPr/>
        </p:nvSpPr>
        <p:spPr>
          <a:xfrm>
            <a:off x="6080760" y="2697480"/>
            <a:ext cx="2606040" cy="1371600"/>
          </a:xfrm>
          <a:prstGeom prst="roundRect">
            <a:avLst>
              <a:gd fmla="val 5333" name="adj"/>
            </a:avLst>
          </a:prstGeom>
          <a:solidFill>
            <a:srgbClr val="16161F"/>
          </a:solidFill>
          <a:ln cap="flat" cmpd="sng" w="12700">
            <a:solidFill>
              <a:srgbClr val="2A2A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a:off x="6281928" y="2852928"/>
            <a:ext cx="548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3000"/>
              <a:buFont typeface="Arial"/>
              <a:buNone/>
            </a:pPr>
            <a:r>
              <a:rPr b="1" i="0" lang="en-US" sz="3000" u="none" cap="none" strike="noStrike">
                <a:solidFill>
                  <a:srgbClr val="000091"/>
                </a:solidFill>
                <a:latin typeface="Arial"/>
                <a:ea typeface="Arial"/>
                <a:cs typeface="Arial"/>
                <a:sym typeface="Arial"/>
              </a:rPr>
              <a:t>3</a:t>
            </a:r>
            <a:endParaRPr b="0" i="0" sz="3000" u="none" cap="none" strike="noStrike">
              <a:solidFill>
                <a:schemeClr val="dk1"/>
              </a:solidFill>
              <a:latin typeface="Calibri"/>
              <a:ea typeface="Calibri"/>
              <a:cs typeface="Calibri"/>
              <a:sym typeface="Calibri"/>
            </a:endParaRPr>
          </a:p>
        </p:txBody>
      </p:sp>
      <p:sp>
        <p:nvSpPr>
          <p:cNvPr id="248" name="Google Shape;248;p11"/>
          <p:cNvSpPr/>
          <p:nvPr/>
        </p:nvSpPr>
        <p:spPr>
          <a:xfrm>
            <a:off x="6281928" y="3291840"/>
            <a:ext cx="22402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Vous repartez avec une estimation chiffrée du gain</a:t>
            </a:r>
            <a:endParaRPr b="0" i="0" sz="1200" u="none" cap="none" strike="noStrike">
              <a:solidFill>
                <a:schemeClr val="dk1"/>
              </a:solidFill>
              <a:latin typeface="Calibri"/>
              <a:ea typeface="Calibri"/>
              <a:cs typeface="Calibri"/>
              <a:sym typeface="Calibri"/>
            </a:endParaRPr>
          </a:p>
        </p:txBody>
      </p:sp>
      <p:sp>
        <p:nvSpPr>
          <p:cNvPr id="249" name="Google Shape;249;p11"/>
          <p:cNvSpPr/>
          <p:nvPr/>
        </p:nvSpPr>
        <p:spPr>
          <a:xfrm>
            <a:off x="502920" y="4343400"/>
            <a:ext cx="5029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9EFF"/>
              </a:buClr>
              <a:buSzPts val="1300"/>
              <a:buFont typeface="Calibri"/>
              <a:buNone/>
            </a:pPr>
            <a:r>
              <a:rPr b="0" i="1" lang="en-US" sz="1300" u="none" cap="none" strike="noStrike">
                <a:solidFill>
                  <a:srgbClr val="9E9EFF"/>
                </a:solidFill>
                <a:latin typeface="Calibri"/>
                <a:ea typeface="Calibri"/>
                <a:cs typeface="Calibri"/>
                <a:sym typeface="Calibri"/>
              </a:rPr>
              <a:t>Zéro perte de temps. Si la démo ne vous convainc pas, vous ne nous revoyez pas.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sp>
        <p:nvSpPr>
          <p:cNvPr id="255" name="Google Shape;255;p12"/>
          <p:cNvSpPr/>
          <p:nvPr/>
        </p:nvSpPr>
        <p:spPr>
          <a:xfrm>
            <a:off x="502920" y="292608"/>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1100"/>
              <a:buFont typeface="Arial"/>
              <a:buNone/>
            </a:pPr>
            <a:r>
              <a:rPr b="1" i="0" lang="en-US" sz="1100" u="none" cap="none" strike="noStrike">
                <a:solidFill>
                  <a:srgbClr val="000091"/>
                </a:solidFill>
                <a:latin typeface="Arial"/>
                <a:ea typeface="Arial"/>
                <a:cs typeface="Arial"/>
                <a:sym typeface="Arial"/>
              </a:rPr>
              <a:t>CAS D'USAGE</a:t>
            </a:r>
            <a:endParaRPr b="0" i="0" sz="1100" u="none" cap="none" strike="noStrike">
              <a:solidFill>
                <a:schemeClr val="dk1"/>
              </a:solidFill>
              <a:latin typeface="Calibri"/>
              <a:ea typeface="Calibri"/>
              <a:cs typeface="Calibri"/>
              <a:sym typeface="Calibri"/>
            </a:endParaRPr>
          </a:p>
        </p:txBody>
      </p:sp>
      <p:sp>
        <p:nvSpPr>
          <p:cNvPr id="256" name="Google Shape;256;p12"/>
          <p:cNvSpPr/>
          <p:nvPr/>
        </p:nvSpPr>
        <p:spPr>
          <a:xfrm>
            <a:off x="502920" y="530352"/>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3000"/>
              <a:buFont typeface="Arial"/>
              <a:buNone/>
            </a:pPr>
            <a:r>
              <a:rPr b="1" i="0" lang="en-US" sz="3000" u="none" cap="none" strike="noStrike">
                <a:solidFill>
                  <a:srgbClr val="0B0B0F"/>
                </a:solidFill>
                <a:latin typeface="Arial"/>
                <a:ea typeface="Arial"/>
                <a:cs typeface="Arial"/>
                <a:sym typeface="Arial"/>
              </a:rPr>
              <a:t>Cabinet de gestion de patrimoine, avant et après.</a:t>
            </a:r>
            <a:endParaRPr b="0" i="0" sz="3000" u="none" cap="none" strike="noStrike">
              <a:solidFill>
                <a:schemeClr val="dk1"/>
              </a:solidFill>
              <a:latin typeface="Calibri"/>
              <a:ea typeface="Calibri"/>
              <a:cs typeface="Calibri"/>
              <a:sym typeface="Calibri"/>
            </a:endParaRPr>
          </a:p>
        </p:txBody>
      </p:sp>
      <p:sp>
        <p:nvSpPr>
          <p:cNvPr id="257" name="Google Shape;257;p12"/>
          <p:cNvSpPr/>
          <p:nvPr/>
        </p:nvSpPr>
        <p:spPr>
          <a:xfrm>
            <a:off x="502920" y="1417320"/>
            <a:ext cx="3977640" cy="2514600"/>
          </a:xfrm>
          <a:prstGeom prst="roundRect">
            <a:avLst>
              <a:gd fmla="val 2909" name="adj"/>
            </a:avLst>
          </a:prstGeom>
          <a:solidFill>
            <a:srgbClr val="F4F5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2"/>
          <p:cNvSpPr/>
          <p:nvPr/>
        </p:nvSpPr>
        <p:spPr>
          <a:xfrm>
            <a:off x="777240" y="160020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300"/>
              <a:buFont typeface="Arial"/>
              <a:buNone/>
            </a:pPr>
            <a:r>
              <a:rPr b="1" i="0" lang="en-US" sz="1300" u="none" cap="none" strike="noStrike">
                <a:solidFill>
                  <a:srgbClr val="5A5A66"/>
                </a:solidFill>
                <a:latin typeface="Arial"/>
                <a:ea typeface="Arial"/>
                <a:cs typeface="Arial"/>
                <a:sym typeface="Arial"/>
              </a:rPr>
              <a:t>AVANT</a:t>
            </a:r>
            <a:endParaRPr b="0" i="0" sz="1300" u="none" cap="none" strike="noStrike">
              <a:solidFill>
                <a:schemeClr val="dk1"/>
              </a:solidFill>
              <a:latin typeface="Calibri"/>
              <a:ea typeface="Calibri"/>
              <a:cs typeface="Calibri"/>
              <a:sym typeface="Calibri"/>
            </a:endParaRPr>
          </a:p>
        </p:txBody>
      </p:sp>
      <p:sp>
        <p:nvSpPr>
          <p:cNvPr id="259" name="Google Shape;259;p12"/>
          <p:cNvSpPr/>
          <p:nvPr/>
        </p:nvSpPr>
        <p:spPr>
          <a:xfrm>
            <a:off x="777240" y="1965960"/>
            <a:ext cx="3474720" cy="18288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5A5A66"/>
              </a:buClr>
              <a:buSzPts val="1200"/>
              <a:buFont typeface="Calibri"/>
              <a:buChar char="•"/>
            </a:pPr>
            <a:r>
              <a:rPr b="0" i="0" lang="en-US" sz="1200" u="none" cap="none" strike="noStrike">
                <a:solidFill>
                  <a:srgbClr val="5A5A66"/>
                </a:solidFill>
                <a:latin typeface="Calibri"/>
                <a:ea typeface="Calibri"/>
                <a:cs typeface="Calibri"/>
                <a:sym typeface="Calibri"/>
              </a:rPr>
              <a:t>Collecte des pièces clients par mails et relances manuelles</a:t>
            </a:r>
            <a:endParaRPr b="0" i="0" sz="12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5A5A66"/>
              </a:buClr>
              <a:buSzPts val="1200"/>
              <a:buFont typeface="Calibri"/>
              <a:buChar char="•"/>
            </a:pPr>
            <a:r>
              <a:rPr b="0" i="0" lang="en-US" sz="1200" u="none" cap="none" strike="noStrike">
                <a:solidFill>
                  <a:srgbClr val="5A5A66"/>
                </a:solidFill>
                <a:latin typeface="Calibri"/>
                <a:ea typeface="Calibri"/>
                <a:cs typeface="Calibri"/>
                <a:sym typeface="Calibri"/>
              </a:rPr>
              <a:t>Ressaisie des mêmes informations dans trois logiciels</a:t>
            </a:r>
            <a:endParaRPr b="0" i="0" sz="12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5A5A66"/>
              </a:buClr>
              <a:buSzPts val="1200"/>
              <a:buFont typeface="Calibri"/>
              <a:buChar char="•"/>
            </a:pPr>
            <a:r>
              <a:rPr b="0" i="0" lang="en-US" sz="1200" u="none" cap="none" strike="noStrike">
                <a:solidFill>
                  <a:srgbClr val="5A5A66"/>
                </a:solidFill>
                <a:latin typeface="Calibri"/>
                <a:ea typeface="Calibri"/>
                <a:cs typeface="Calibri"/>
                <a:sym typeface="Calibri"/>
              </a:rPr>
              <a:t>Reporting client préparé à la main chaque trimestre</a:t>
            </a:r>
            <a:endParaRPr b="0" i="0" sz="12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5A5A66"/>
              </a:buClr>
              <a:buSzPts val="1200"/>
              <a:buFont typeface="Calibri"/>
              <a:buChar char="•"/>
            </a:pPr>
            <a:r>
              <a:rPr b="0" i="0" lang="en-US" sz="1200" u="none" cap="none" strike="noStrike">
                <a:solidFill>
                  <a:srgbClr val="5A5A66"/>
                </a:solidFill>
                <a:latin typeface="Calibri"/>
                <a:ea typeface="Calibri"/>
                <a:cs typeface="Calibri"/>
                <a:sym typeface="Calibri"/>
              </a:rPr>
              <a:t>Conformité documentaire vérifiée au fil de l'eau, sous stress</a:t>
            </a:r>
            <a:endParaRPr b="0" i="0" sz="1200" u="none" cap="none" strike="noStrike">
              <a:solidFill>
                <a:schemeClr val="dk1"/>
              </a:solidFill>
              <a:latin typeface="Calibri"/>
              <a:ea typeface="Calibri"/>
              <a:cs typeface="Calibri"/>
              <a:sym typeface="Calibri"/>
            </a:endParaRPr>
          </a:p>
        </p:txBody>
      </p:sp>
      <p:sp>
        <p:nvSpPr>
          <p:cNvPr id="260" name="Google Shape;260;p12"/>
          <p:cNvSpPr/>
          <p:nvPr/>
        </p:nvSpPr>
        <p:spPr>
          <a:xfrm>
            <a:off x="4663440" y="1417320"/>
            <a:ext cx="3977640" cy="2514600"/>
          </a:xfrm>
          <a:prstGeom prst="roundRect">
            <a:avLst>
              <a:gd fmla="val 2909" name="adj"/>
            </a:avLst>
          </a:prstGeom>
          <a:solidFill>
            <a:srgbClr val="EDEEFB"/>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2"/>
          <p:cNvSpPr/>
          <p:nvPr/>
        </p:nvSpPr>
        <p:spPr>
          <a:xfrm>
            <a:off x="4937760" y="160020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1300"/>
              <a:buFont typeface="Arial"/>
              <a:buNone/>
            </a:pPr>
            <a:r>
              <a:rPr b="1" i="0" lang="en-US" sz="1300" u="none" cap="none" strike="noStrike">
                <a:solidFill>
                  <a:srgbClr val="000091"/>
                </a:solidFill>
                <a:latin typeface="Arial"/>
                <a:ea typeface="Arial"/>
                <a:cs typeface="Arial"/>
                <a:sym typeface="Arial"/>
              </a:rPr>
              <a:t>APRÈS</a:t>
            </a:r>
            <a:endParaRPr b="0" i="0" sz="1300" u="none" cap="none" strike="noStrike">
              <a:solidFill>
                <a:schemeClr val="dk1"/>
              </a:solidFill>
              <a:latin typeface="Calibri"/>
              <a:ea typeface="Calibri"/>
              <a:cs typeface="Calibri"/>
              <a:sym typeface="Calibri"/>
            </a:endParaRPr>
          </a:p>
        </p:txBody>
      </p:sp>
      <p:sp>
        <p:nvSpPr>
          <p:cNvPr id="262" name="Google Shape;262;p12"/>
          <p:cNvSpPr/>
          <p:nvPr/>
        </p:nvSpPr>
        <p:spPr>
          <a:xfrm>
            <a:off x="4937760" y="1965960"/>
            <a:ext cx="3474720" cy="18288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0B0B0F"/>
              </a:buClr>
              <a:buSzPts val="1200"/>
              <a:buFont typeface="Calibri"/>
              <a:buChar char="•"/>
            </a:pPr>
            <a:r>
              <a:rPr b="0" i="0" lang="en-US" sz="1200" u="none" cap="none" strike="noStrike">
                <a:solidFill>
                  <a:srgbClr val="0B0B0F"/>
                </a:solidFill>
                <a:latin typeface="Calibri"/>
                <a:ea typeface="Calibri"/>
                <a:cs typeface="Calibri"/>
                <a:sym typeface="Calibri"/>
              </a:rPr>
              <a:t>Agent de collecte : demandes, relances et classement automatisés</a:t>
            </a:r>
            <a:endParaRPr b="0" i="0" sz="12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0B0B0F"/>
              </a:buClr>
              <a:buSzPts val="1200"/>
              <a:buFont typeface="Calibri"/>
              <a:buChar char="•"/>
            </a:pPr>
            <a:r>
              <a:rPr b="0" i="0" lang="en-US" sz="1200" u="none" cap="none" strike="noStrike">
                <a:solidFill>
                  <a:srgbClr val="0B0B0F"/>
                </a:solidFill>
                <a:latin typeface="Calibri"/>
                <a:ea typeface="Calibri"/>
                <a:cs typeface="Calibri"/>
                <a:sym typeface="Calibri"/>
              </a:rPr>
              <a:t>Les systèmes existants restent la référence, l'agent fait circuler la donnée</a:t>
            </a:r>
            <a:endParaRPr b="0" i="0" sz="12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0B0B0F"/>
              </a:buClr>
              <a:buSzPts val="1200"/>
              <a:buFont typeface="Calibri"/>
              <a:buChar char="•"/>
            </a:pPr>
            <a:r>
              <a:rPr b="0" i="0" lang="en-US" sz="1200" u="none" cap="none" strike="noStrike">
                <a:solidFill>
                  <a:srgbClr val="0B0B0F"/>
                </a:solidFill>
                <a:latin typeface="Calibri"/>
                <a:ea typeface="Calibri"/>
                <a:cs typeface="Calibri"/>
                <a:sym typeface="Calibri"/>
              </a:rPr>
              <a:t>Reporting généré, vérifié par le conseiller, envoyé en un clic</a:t>
            </a:r>
            <a:endParaRPr b="0" i="0" sz="12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0B0B0F"/>
              </a:buClr>
              <a:buSzPts val="1200"/>
              <a:buFont typeface="Calibri"/>
              <a:buChar char="•"/>
            </a:pPr>
            <a:r>
              <a:rPr b="0" i="0" lang="en-US" sz="1200" u="none" cap="none" strike="noStrike">
                <a:solidFill>
                  <a:srgbClr val="0B0B0F"/>
                </a:solidFill>
                <a:latin typeface="Calibri"/>
                <a:ea typeface="Calibri"/>
                <a:cs typeface="Calibri"/>
                <a:sym typeface="Calibri"/>
              </a:rPr>
              <a:t>Complétude des dossiers contrôlée en continu, alertes proactives</a:t>
            </a:r>
            <a:endParaRPr b="0" i="0" sz="1200" u="none" cap="none" strike="noStrike">
              <a:solidFill>
                <a:schemeClr val="dk1"/>
              </a:solidFill>
              <a:latin typeface="Calibri"/>
              <a:ea typeface="Calibri"/>
              <a:cs typeface="Calibri"/>
              <a:sym typeface="Calibri"/>
            </a:endParaRPr>
          </a:p>
        </p:txBody>
      </p:sp>
      <p:sp>
        <p:nvSpPr>
          <p:cNvPr id="263" name="Google Shape;263;p12"/>
          <p:cNvSpPr/>
          <p:nvPr/>
        </p:nvSpPr>
        <p:spPr>
          <a:xfrm>
            <a:off x="502920" y="4114800"/>
            <a:ext cx="2606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2400"/>
              <a:buFont typeface="Arial"/>
              <a:buNone/>
            </a:pPr>
            <a:r>
              <a:rPr b="1" i="0" lang="en-US" sz="2400" u="none" cap="none" strike="noStrike">
                <a:solidFill>
                  <a:srgbClr val="000091"/>
                </a:solidFill>
                <a:latin typeface="Arial"/>
                <a:ea typeface="Arial"/>
                <a:cs typeface="Arial"/>
                <a:sym typeface="Arial"/>
              </a:rPr>
              <a:t>1 à 2 jours</a:t>
            </a:r>
            <a:endParaRPr b="0" i="0" sz="2400" u="none" cap="none" strike="noStrike">
              <a:solidFill>
                <a:schemeClr val="dk1"/>
              </a:solidFill>
              <a:latin typeface="Calibri"/>
              <a:ea typeface="Calibri"/>
              <a:cs typeface="Calibri"/>
              <a:sym typeface="Calibri"/>
            </a:endParaRPr>
          </a:p>
        </p:txBody>
      </p:sp>
      <p:sp>
        <p:nvSpPr>
          <p:cNvPr id="264" name="Google Shape;264;p12"/>
          <p:cNvSpPr/>
          <p:nvPr/>
        </p:nvSpPr>
        <p:spPr>
          <a:xfrm>
            <a:off x="502920" y="4526280"/>
            <a:ext cx="2606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100"/>
              <a:buFont typeface="Calibri"/>
              <a:buNone/>
            </a:pPr>
            <a:r>
              <a:rPr b="0" i="0" lang="en-US" sz="1100" u="none" cap="none" strike="noStrike">
                <a:solidFill>
                  <a:srgbClr val="5A5A66"/>
                </a:solidFill>
                <a:latin typeface="Calibri"/>
                <a:ea typeface="Calibri"/>
                <a:cs typeface="Calibri"/>
                <a:sym typeface="Calibri"/>
              </a:rPr>
              <a:t>d'expertise rendus par semaine et par conseiller</a:t>
            </a:r>
            <a:endParaRPr b="0" i="0" sz="1100" u="none" cap="none" strike="noStrike">
              <a:solidFill>
                <a:schemeClr val="dk1"/>
              </a:solidFill>
              <a:latin typeface="Calibri"/>
              <a:ea typeface="Calibri"/>
              <a:cs typeface="Calibri"/>
              <a:sym typeface="Calibri"/>
            </a:endParaRPr>
          </a:p>
        </p:txBody>
      </p:sp>
      <p:sp>
        <p:nvSpPr>
          <p:cNvPr id="265" name="Google Shape;265;p12"/>
          <p:cNvSpPr/>
          <p:nvPr/>
        </p:nvSpPr>
        <p:spPr>
          <a:xfrm>
            <a:off x="3291840" y="4114800"/>
            <a:ext cx="2606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2400"/>
              <a:buFont typeface="Arial"/>
              <a:buNone/>
            </a:pPr>
            <a:r>
              <a:rPr b="1" i="0" lang="en-US" sz="2400" u="none" cap="none" strike="noStrike">
                <a:solidFill>
                  <a:srgbClr val="000091"/>
                </a:solidFill>
                <a:latin typeface="Arial"/>
                <a:ea typeface="Arial"/>
                <a:cs typeface="Arial"/>
                <a:sym typeface="Arial"/>
              </a:rPr>
              <a:t>0</a:t>
            </a:r>
            <a:endParaRPr b="0" i="0" sz="2400" u="none" cap="none" strike="noStrike">
              <a:solidFill>
                <a:schemeClr val="dk1"/>
              </a:solidFill>
              <a:latin typeface="Calibri"/>
              <a:ea typeface="Calibri"/>
              <a:cs typeface="Calibri"/>
              <a:sym typeface="Calibri"/>
            </a:endParaRPr>
          </a:p>
        </p:txBody>
      </p:sp>
      <p:sp>
        <p:nvSpPr>
          <p:cNvPr id="266" name="Google Shape;266;p12"/>
          <p:cNvSpPr/>
          <p:nvPr/>
        </p:nvSpPr>
        <p:spPr>
          <a:xfrm>
            <a:off x="3291840" y="4526280"/>
            <a:ext cx="2606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100"/>
              <a:buFont typeface="Calibri"/>
              <a:buNone/>
            </a:pPr>
            <a:r>
              <a:rPr b="0" i="0" lang="en-US" sz="1100" u="none" cap="none" strike="noStrike">
                <a:solidFill>
                  <a:srgbClr val="5A5A66"/>
                </a:solidFill>
                <a:latin typeface="Calibri"/>
                <a:ea typeface="Calibri"/>
                <a:cs typeface="Calibri"/>
                <a:sym typeface="Calibri"/>
              </a:rPr>
              <a:t>donnée client envoyée hors du socle souverain</a:t>
            </a:r>
            <a:endParaRPr b="0" i="0" sz="1100" u="none" cap="none" strike="noStrike">
              <a:solidFill>
                <a:schemeClr val="dk1"/>
              </a:solidFill>
              <a:latin typeface="Calibri"/>
              <a:ea typeface="Calibri"/>
              <a:cs typeface="Calibri"/>
              <a:sym typeface="Calibri"/>
            </a:endParaRPr>
          </a:p>
        </p:txBody>
      </p:sp>
      <p:sp>
        <p:nvSpPr>
          <p:cNvPr id="267" name="Google Shape;267;p12"/>
          <p:cNvSpPr/>
          <p:nvPr/>
        </p:nvSpPr>
        <p:spPr>
          <a:xfrm>
            <a:off x="6080760" y="4114800"/>
            <a:ext cx="2606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2400"/>
              <a:buFont typeface="Arial"/>
              <a:buNone/>
            </a:pPr>
            <a:r>
              <a:rPr b="1" i="0" lang="en-US" sz="2400" u="none" cap="none" strike="noStrike">
                <a:solidFill>
                  <a:srgbClr val="000091"/>
                </a:solidFill>
                <a:latin typeface="Arial"/>
                <a:ea typeface="Arial"/>
                <a:cs typeface="Arial"/>
                <a:sym typeface="Arial"/>
              </a:rPr>
              <a:t>100%</a:t>
            </a:r>
            <a:endParaRPr b="0" i="0" sz="2400" u="none" cap="none" strike="noStrike">
              <a:solidFill>
                <a:schemeClr val="dk1"/>
              </a:solidFill>
              <a:latin typeface="Calibri"/>
              <a:ea typeface="Calibri"/>
              <a:cs typeface="Calibri"/>
              <a:sym typeface="Calibri"/>
            </a:endParaRPr>
          </a:p>
        </p:txBody>
      </p:sp>
      <p:sp>
        <p:nvSpPr>
          <p:cNvPr id="268" name="Google Shape;268;p12"/>
          <p:cNvSpPr/>
          <p:nvPr/>
        </p:nvSpPr>
        <p:spPr>
          <a:xfrm>
            <a:off x="6080760" y="4526280"/>
            <a:ext cx="2606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100"/>
              <a:buFont typeface="Calibri"/>
              <a:buNone/>
            </a:pPr>
            <a:r>
              <a:rPr b="0" i="0" lang="en-US" sz="1100" u="none" cap="none" strike="noStrike">
                <a:solidFill>
                  <a:srgbClr val="5A5A66"/>
                </a:solidFill>
                <a:latin typeface="Calibri"/>
                <a:ea typeface="Calibri"/>
                <a:cs typeface="Calibri"/>
                <a:sym typeface="Calibri"/>
              </a:rPr>
              <a:t>des décisions patrimoniales restent humaines</a:t>
            </a:r>
            <a:endParaRPr b="0" i="0" sz="1100" u="none" cap="none" strike="noStrike">
              <a:solidFill>
                <a:schemeClr val="dk1"/>
              </a:solidFill>
              <a:latin typeface="Calibri"/>
              <a:ea typeface="Calibri"/>
              <a:cs typeface="Calibri"/>
              <a:sym typeface="Calibri"/>
            </a:endParaRPr>
          </a:p>
        </p:txBody>
      </p:sp>
      <p:sp>
        <p:nvSpPr>
          <p:cNvPr id="269" name="Google Shape;269;p12"/>
          <p:cNvSpPr/>
          <p:nvPr/>
        </p:nvSpPr>
        <p:spPr>
          <a:xfrm>
            <a:off x="1881225" y="134700"/>
            <a:ext cx="4537200" cy="31701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sp>
        <p:nvSpPr>
          <p:cNvPr id="275" name="Google Shape;275;p13"/>
          <p:cNvSpPr/>
          <p:nvPr/>
        </p:nvSpPr>
        <p:spPr>
          <a:xfrm>
            <a:off x="502920" y="292608"/>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1100"/>
              <a:buFont typeface="Arial"/>
              <a:buNone/>
            </a:pPr>
            <a:r>
              <a:rPr b="1" i="0" lang="en-US" sz="1100" u="none" cap="none" strike="noStrike">
                <a:solidFill>
                  <a:srgbClr val="000091"/>
                </a:solidFill>
                <a:latin typeface="Arial"/>
                <a:ea typeface="Arial"/>
                <a:cs typeface="Arial"/>
                <a:sym typeface="Arial"/>
              </a:rPr>
              <a:t>LE MODÈLE ÉCONOMIQUE</a:t>
            </a:r>
            <a:endParaRPr b="0" i="0" sz="1100" u="none" cap="none" strike="noStrike">
              <a:solidFill>
                <a:schemeClr val="dk1"/>
              </a:solidFill>
              <a:latin typeface="Calibri"/>
              <a:ea typeface="Calibri"/>
              <a:cs typeface="Calibri"/>
              <a:sym typeface="Calibri"/>
            </a:endParaRPr>
          </a:p>
        </p:txBody>
      </p:sp>
      <p:sp>
        <p:nvSpPr>
          <p:cNvPr id="276" name="Google Shape;276;p13"/>
          <p:cNvSpPr/>
          <p:nvPr/>
        </p:nvSpPr>
        <p:spPr>
          <a:xfrm>
            <a:off x="502920" y="530352"/>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3000"/>
              <a:buFont typeface="Arial"/>
              <a:buNone/>
            </a:pPr>
            <a:r>
              <a:rPr b="1" i="0" lang="en-US" sz="3000" u="none" cap="none" strike="noStrike">
                <a:solidFill>
                  <a:srgbClr val="0B0B0F"/>
                </a:solidFill>
                <a:latin typeface="Arial"/>
                <a:ea typeface="Arial"/>
                <a:cs typeface="Arial"/>
                <a:sym typeface="Arial"/>
              </a:rPr>
              <a:t>On gagne quand vous gagnez.</a:t>
            </a:r>
            <a:endParaRPr b="0" i="0" sz="3000" u="none" cap="none" strike="noStrike">
              <a:solidFill>
                <a:schemeClr val="dk1"/>
              </a:solidFill>
              <a:latin typeface="Calibri"/>
              <a:ea typeface="Calibri"/>
              <a:cs typeface="Calibri"/>
              <a:sym typeface="Calibri"/>
            </a:endParaRPr>
          </a:p>
        </p:txBody>
      </p:sp>
      <p:sp>
        <p:nvSpPr>
          <p:cNvPr id="277" name="Google Shape;277;p13"/>
          <p:cNvSpPr/>
          <p:nvPr/>
        </p:nvSpPr>
        <p:spPr>
          <a:xfrm>
            <a:off x="502920" y="1325880"/>
            <a:ext cx="8138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350"/>
              <a:buFont typeface="Calibri"/>
              <a:buNone/>
            </a:pPr>
            <a:r>
              <a:rPr b="0" i="0" lang="en-US" sz="1350" u="none" cap="none" strike="noStrike">
                <a:solidFill>
                  <a:srgbClr val="5A5A66"/>
                </a:solidFill>
                <a:latin typeface="Calibri"/>
                <a:ea typeface="Calibri"/>
                <a:cs typeface="Calibri"/>
                <a:sym typeface="Calibri"/>
              </a:rPr>
              <a:t>Le consulting au TJM a un défaut structurel : plus la mission dure, plus le prestataire gagne. Nous avons inversé la logique avec un modèle que votre direction financière comprend en trente secondes.</a:t>
            </a:r>
            <a:endParaRPr b="0" i="0" sz="1350" u="none" cap="none" strike="noStrike">
              <a:solidFill>
                <a:schemeClr val="dk1"/>
              </a:solidFill>
              <a:latin typeface="Calibri"/>
              <a:ea typeface="Calibri"/>
              <a:cs typeface="Calibri"/>
              <a:sym typeface="Calibri"/>
            </a:endParaRPr>
          </a:p>
        </p:txBody>
      </p:sp>
      <p:sp>
        <p:nvSpPr>
          <p:cNvPr id="278" name="Google Shape;278;p13"/>
          <p:cNvSpPr/>
          <p:nvPr/>
        </p:nvSpPr>
        <p:spPr>
          <a:xfrm>
            <a:off x="502920" y="2148840"/>
            <a:ext cx="2606040" cy="2606040"/>
          </a:xfrm>
          <a:prstGeom prst="roundRect">
            <a:avLst>
              <a:gd fmla="val 2807" name="adj"/>
            </a:avLst>
          </a:prstGeom>
          <a:solidFill>
            <a:srgbClr val="F4F5FA"/>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3"/>
          <p:cNvSpPr/>
          <p:nvPr/>
        </p:nvSpPr>
        <p:spPr>
          <a:xfrm>
            <a:off x="731520" y="2377440"/>
            <a:ext cx="475488" cy="47548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0" name="Google Shape;280;p13"/>
          <p:cNvPicPr preferRelativeResize="0"/>
          <p:nvPr/>
        </p:nvPicPr>
        <p:blipFill rotWithShape="1">
          <a:blip r:embed="rId3">
            <a:alphaModFix/>
          </a:blip>
          <a:srcRect b="0" l="0" r="0" t="0"/>
          <a:stretch/>
        </p:blipFill>
        <p:spPr>
          <a:xfrm>
            <a:off x="855147" y="2501067"/>
            <a:ext cx="228234" cy="228234"/>
          </a:xfrm>
          <a:prstGeom prst="rect">
            <a:avLst/>
          </a:prstGeom>
          <a:noFill/>
          <a:ln>
            <a:noFill/>
          </a:ln>
        </p:spPr>
      </p:pic>
      <p:sp>
        <p:nvSpPr>
          <p:cNvPr id="281" name="Google Shape;281;p13"/>
          <p:cNvSpPr/>
          <p:nvPr/>
        </p:nvSpPr>
        <p:spPr>
          <a:xfrm>
            <a:off x="731520" y="297180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550"/>
              <a:buFont typeface="Arial"/>
              <a:buNone/>
            </a:pPr>
            <a:r>
              <a:rPr b="1" i="0" lang="en-US" sz="1550" u="none" cap="none" strike="noStrike">
                <a:solidFill>
                  <a:srgbClr val="0B0B0F"/>
                </a:solidFill>
                <a:latin typeface="Arial"/>
                <a:ea typeface="Arial"/>
                <a:cs typeface="Arial"/>
                <a:sym typeface="Arial"/>
              </a:rPr>
              <a:t>Socle fixe</a:t>
            </a:r>
            <a:endParaRPr b="0" i="0" sz="1550" u="none" cap="none" strike="noStrike">
              <a:solidFill>
                <a:schemeClr val="dk1"/>
              </a:solidFill>
              <a:latin typeface="Calibri"/>
              <a:ea typeface="Calibri"/>
              <a:cs typeface="Calibri"/>
              <a:sym typeface="Calibri"/>
            </a:endParaRPr>
          </a:p>
        </p:txBody>
      </p:sp>
      <p:sp>
        <p:nvSpPr>
          <p:cNvPr id="282" name="Google Shape;282;p13"/>
          <p:cNvSpPr/>
          <p:nvPr/>
        </p:nvSpPr>
        <p:spPr>
          <a:xfrm>
            <a:off x="731520" y="3383280"/>
            <a:ext cx="219456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150"/>
              <a:buFont typeface="Calibri"/>
              <a:buNone/>
            </a:pPr>
            <a:r>
              <a:rPr b="0" i="0" lang="en-US" sz="1150" u="none" cap="none" strike="noStrike">
                <a:solidFill>
                  <a:srgbClr val="5A5A66"/>
                </a:solidFill>
                <a:latin typeface="Calibri"/>
                <a:ea typeface="Calibri"/>
                <a:cs typeface="Calibri"/>
                <a:sym typeface="Calibri"/>
              </a:rPr>
              <a:t>Un forfait de mise en œuvre défini avant signature : audit, gouvernance, socle technique et premiers agents. Pas de dérive, pas de régie déguisée.</a:t>
            </a:r>
            <a:endParaRPr b="0" i="0" sz="1150" u="none" cap="none" strike="noStrike">
              <a:solidFill>
                <a:schemeClr val="dk1"/>
              </a:solidFill>
              <a:latin typeface="Calibri"/>
              <a:ea typeface="Calibri"/>
              <a:cs typeface="Calibri"/>
              <a:sym typeface="Calibri"/>
            </a:endParaRPr>
          </a:p>
        </p:txBody>
      </p:sp>
      <p:sp>
        <p:nvSpPr>
          <p:cNvPr id="283" name="Google Shape;283;p13"/>
          <p:cNvSpPr/>
          <p:nvPr/>
        </p:nvSpPr>
        <p:spPr>
          <a:xfrm>
            <a:off x="3291840" y="2148840"/>
            <a:ext cx="2606040" cy="2606040"/>
          </a:xfrm>
          <a:prstGeom prst="roundRect">
            <a:avLst>
              <a:gd fmla="val 2807" name="adj"/>
            </a:avLst>
          </a:prstGeom>
          <a:solidFill>
            <a:srgbClr val="F4F5FA"/>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3"/>
          <p:cNvSpPr/>
          <p:nvPr/>
        </p:nvSpPr>
        <p:spPr>
          <a:xfrm>
            <a:off x="3520440" y="2377440"/>
            <a:ext cx="475488" cy="47548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5" name="Google Shape;285;p13"/>
          <p:cNvPicPr preferRelativeResize="0"/>
          <p:nvPr/>
        </p:nvPicPr>
        <p:blipFill rotWithShape="1">
          <a:blip r:embed="rId4">
            <a:alphaModFix/>
          </a:blip>
          <a:srcRect b="0" l="0" r="0" t="0"/>
          <a:stretch/>
        </p:blipFill>
        <p:spPr>
          <a:xfrm>
            <a:off x="3644067" y="2501067"/>
            <a:ext cx="228234" cy="228234"/>
          </a:xfrm>
          <a:prstGeom prst="rect">
            <a:avLst/>
          </a:prstGeom>
          <a:noFill/>
          <a:ln>
            <a:noFill/>
          </a:ln>
        </p:spPr>
      </p:pic>
      <p:sp>
        <p:nvSpPr>
          <p:cNvPr id="286" name="Google Shape;286;p13"/>
          <p:cNvSpPr/>
          <p:nvPr/>
        </p:nvSpPr>
        <p:spPr>
          <a:xfrm>
            <a:off x="3520440" y="297180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550"/>
              <a:buFont typeface="Arial"/>
              <a:buNone/>
            </a:pPr>
            <a:r>
              <a:rPr b="1" i="0" lang="en-US" sz="1550" u="none" cap="none" strike="noStrike">
                <a:solidFill>
                  <a:srgbClr val="0B0B0F"/>
                </a:solidFill>
                <a:latin typeface="Arial"/>
                <a:ea typeface="Arial"/>
                <a:cs typeface="Arial"/>
                <a:sym typeface="Arial"/>
              </a:rPr>
              <a:t>Part variable sur la valeur</a:t>
            </a:r>
            <a:endParaRPr b="0" i="0" sz="1550" u="none" cap="none" strike="noStrike">
              <a:solidFill>
                <a:schemeClr val="dk1"/>
              </a:solidFill>
              <a:latin typeface="Calibri"/>
              <a:ea typeface="Calibri"/>
              <a:cs typeface="Calibri"/>
              <a:sym typeface="Calibri"/>
            </a:endParaRPr>
          </a:p>
        </p:txBody>
      </p:sp>
      <p:sp>
        <p:nvSpPr>
          <p:cNvPr id="287" name="Google Shape;287;p13"/>
          <p:cNvSpPr/>
          <p:nvPr/>
        </p:nvSpPr>
        <p:spPr>
          <a:xfrm>
            <a:off x="3520440" y="3383280"/>
            <a:ext cx="219456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150"/>
              <a:buFont typeface="Calibri"/>
              <a:buNone/>
            </a:pPr>
            <a:r>
              <a:rPr b="0" i="0" lang="en-US" sz="1150" u="none" cap="none" strike="noStrike">
                <a:solidFill>
                  <a:srgbClr val="5A5A66"/>
                </a:solidFill>
                <a:latin typeface="Calibri"/>
                <a:ea typeface="Calibri"/>
                <a:cs typeface="Calibri"/>
                <a:sym typeface="Calibri"/>
              </a:rPr>
              <a:t>Un pourcentage des gains réellement mesurés : heures libérées, dossiers traités, délais réduits. Nos revenus suivent vos résultats, pas nos heures.</a:t>
            </a:r>
            <a:endParaRPr b="0" i="0" sz="1150" u="none" cap="none" strike="noStrike">
              <a:solidFill>
                <a:schemeClr val="dk1"/>
              </a:solidFill>
              <a:latin typeface="Calibri"/>
              <a:ea typeface="Calibri"/>
              <a:cs typeface="Calibri"/>
              <a:sym typeface="Calibri"/>
            </a:endParaRPr>
          </a:p>
        </p:txBody>
      </p:sp>
      <p:sp>
        <p:nvSpPr>
          <p:cNvPr id="288" name="Google Shape;288;p13"/>
          <p:cNvSpPr/>
          <p:nvPr/>
        </p:nvSpPr>
        <p:spPr>
          <a:xfrm>
            <a:off x="6080760" y="2148840"/>
            <a:ext cx="2606040" cy="2606040"/>
          </a:xfrm>
          <a:prstGeom prst="roundRect">
            <a:avLst>
              <a:gd fmla="val 2807" name="adj"/>
            </a:avLst>
          </a:prstGeom>
          <a:solidFill>
            <a:srgbClr val="F4F5FA"/>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3"/>
          <p:cNvSpPr/>
          <p:nvPr/>
        </p:nvSpPr>
        <p:spPr>
          <a:xfrm>
            <a:off x="6309360" y="2377440"/>
            <a:ext cx="475488" cy="47548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0" name="Google Shape;290;p13"/>
          <p:cNvPicPr preferRelativeResize="0"/>
          <p:nvPr/>
        </p:nvPicPr>
        <p:blipFill rotWithShape="1">
          <a:blip r:embed="rId5">
            <a:alphaModFix/>
          </a:blip>
          <a:srcRect b="0" l="0" r="0" t="0"/>
          <a:stretch/>
        </p:blipFill>
        <p:spPr>
          <a:xfrm>
            <a:off x="6432987" y="2501067"/>
            <a:ext cx="228234" cy="228234"/>
          </a:xfrm>
          <a:prstGeom prst="rect">
            <a:avLst/>
          </a:prstGeom>
          <a:noFill/>
          <a:ln>
            <a:noFill/>
          </a:ln>
        </p:spPr>
      </p:pic>
      <p:sp>
        <p:nvSpPr>
          <p:cNvPr id="291" name="Google Shape;291;p13"/>
          <p:cNvSpPr/>
          <p:nvPr/>
        </p:nvSpPr>
        <p:spPr>
          <a:xfrm>
            <a:off x="6309360" y="297180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550"/>
              <a:buFont typeface="Arial"/>
              <a:buNone/>
            </a:pPr>
            <a:r>
              <a:rPr b="1" i="0" lang="en-US" sz="1550" u="none" cap="none" strike="noStrike">
                <a:solidFill>
                  <a:srgbClr val="0B0B0F"/>
                </a:solidFill>
                <a:latin typeface="Arial"/>
                <a:ea typeface="Arial"/>
                <a:cs typeface="Arial"/>
                <a:sym typeface="Arial"/>
              </a:rPr>
              <a:t>Engagement contractuel</a:t>
            </a:r>
            <a:endParaRPr b="0" i="0" sz="1550" u="none" cap="none" strike="noStrike">
              <a:solidFill>
                <a:schemeClr val="dk1"/>
              </a:solidFill>
              <a:latin typeface="Calibri"/>
              <a:ea typeface="Calibri"/>
              <a:cs typeface="Calibri"/>
              <a:sym typeface="Calibri"/>
            </a:endParaRPr>
          </a:p>
        </p:txBody>
      </p:sp>
      <p:sp>
        <p:nvSpPr>
          <p:cNvPr id="292" name="Google Shape;292;p13"/>
          <p:cNvSpPr/>
          <p:nvPr/>
        </p:nvSpPr>
        <p:spPr>
          <a:xfrm>
            <a:off x="6309360" y="3383280"/>
            <a:ext cx="219456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150"/>
              <a:buFont typeface="Calibri"/>
              <a:buNone/>
            </a:pPr>
            <a:r>
              <a:rPr b="0" i="0" lang="en-US" sz="1150" u="none" cap="none" strike="noStrike">
                <a:solidFill>
                  <a:srgbClr val="5A5A66"/>
                </a:solidFill>
                <a:latin typeface="Calibri"/>
                <a:ea typeface="Calibri"/>
                <a:cs typeface="Calibri"/>
                <a:sym typeface="Calibri"/>
              </a:rPr>
              <a:t>Objectifs, indicateurs et méthode de mesure inscrits au contrat. Si la valeur n'est pas au rendez vous, la part variable non plus.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7" name="Shape 297"/>
        <p:cNvGrpSpPr/>
        <p:nvPr/>
      </p:nvGrpSpPr>
      <p:grpSpPr>
        <a:xfrm>
          <a:off x="0" y="0"/>
          <a:ext cx="0" cy="0"/>
          <a:chOff x="0" y="0"/>
          <a:chExt cx="0" cy="0"/>
        </a:xfrm>
      </p:grpSpPr>
      <p:sp>
        <p:nvSpPr>
          <p:cNvPr id="298" name="Google Shape;298;p14"/>
          <p:cNvSpPr/>
          <p:nvPr/>
        </p:nvSpPr>
        <p:spPr>
          <a:xfrm>
            <a:off x="502920" y="292608"/>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1100"/>
              <a:buFont typeface="Arial"/>
              <a:buNone/>
            </a:pPr>
            <a:r>
              <a:rPr b="1" i="0" lang="en-US" sz="1100" u="none" cap="none" strike="noStrike">
                <a:solidFill>
                  <a:srgbClr val="000091"/>
                </a:solidFill>
                <a:latin typeface="Arial"/>
                <a:ea typeface="Arial"/>
                <a:cs typeface="Arial"/>
                <a:sym typeface="Arial"/>
              </a:rPr>
              <a:t>LE POSITIONNEMENT</a:t>
            </a:r>
            <a:endParaRPr b="0" i="0" sz="1100" u="none" cap="none" strike="noStrike">
              <a:solidFill>
                <a:schemeClr val="dk1"/>
              </a:solidFill>
              <a:latin typeface="Calibri"/>
              <a:ea typeface="Calibri"/>
              <a:cs typeface="Calibri"/>
              <a:sym typeface="Calibri"/>
            </a:endParaRPr>
          </a:p>
        </p:txBody>
      </p:sp>
      <p:sp>
        <p:nvSpPr>
          <p:cNvPr id="299" name="Google Shape;299;p14"/>
          <p:cNvSpPr/>
          <p:nvPr/>
        </p:nvSpPr>
        <p:spPr>
          <a:xfrm>
            <a:off x="502920" y="530352"/>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3000"/>
              <a:buFont typeface="Arial"/>
              <a:buNone/>
            </a:pPr>
            <a:r>
              <a:rPr b="1" i="0" lang="en-US" sz="3000" u="none" cap="none" strike="noStrike">
                <a:solidFill>
                  <a:srgbClr val="0B0B0F"/>
                </a:solidFill>
                <a:latin typeface="Arial"/>
                <a:ea typeface="Arial"/>
                <a:cs typeface="Arial"/>
                <a:sym typeface="Arial"/>
              </a:rPr>
              <a:t>Trois façons de faire de l'IA en France. Une seule va jusqu'au bout.</a:t>
            </a:r>
            <a:endParaRPr b="0" i="0" sz="3000" u="none" cap="none" strike="noStrike">
              <a:solidFill>
                <a:schemeClr val="dk1"/>
              </a:solidFill>
              <a:latin typeface="Calibri"/>
              <a:ea typeface="Calibri"/>
              <a:cs typeface="Calibri"/>
              <a:sym typeface="Calibri"/>
            </a:endParaRPr>
          </a:p>
        </p:txBody>
      </p:sp>
      <p:sp>
        <p:nvSpPr>
          <p:cNvPr id="300" name="Google Shape;300;p14"/>
          <p:cNvSpPr/>
          <p:nvPr/>
        </p:nvSpPr>
        <p:spPr>
          <a:xfrm>
            <a:off x="502920" y="1463040"/>
            <a:ext cx="2606040" cy="3291840"/>
          </a:xfrm>
          <a:prstGeom prst="roundRect">
            <a:avLst>
              <a:gd fmla="val 2807" name="adj"/>
            </a:avLst>
          </a:prstGeom>
          <a:solidFill>
            <a:srgbClr val="F4F5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4"/>
          <p:cNvSpPr/>
          <p:nvPr/>
        </p:nvSpPr>
        <p:spPr>
          <a:xfrm>
            <a:off x="731520" y="1691640"/>
            <a:ext cx="21945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500"/>
              <a:buFont typeface="Arial"/>
              <a:buNone/>
            </a:pPr>
            <a:r>
              <a:rPr b="1" i="0" lang="en-US" sz="1500" u="none" cap="none" strike="noStrike">
                <a:solidFill>
                  <a:srgbClr val="0B0B0F"/>
                </a:solidFill>
                <a:latin typeface="Arial"/>
                <a:ea typeface="Arial"/>
                <a:cs typeface="Arial"/>
                <a:sym typeface="Arial"/>
              </a:rPr>
              <a:t>Les cabinets de formation</a:t>
            </a:r>
            <a:endParaRPr b="0" i="0" sz="1500" u="none" cap="none" strike="noStrike">
              <a:solidFill>
                <a:schemeClr val="dk1"/>
              </a:solidFill>
              <a:latin typeface="Calibri"/>
              <a:ea typeface="Calibri"/>
              <a:cs typeface="Calibri"/>
              <a:sym typeface="Calibri"/>
            </a:endParaRPr>
          </a:p>
        </p:txBody>
      </p:sp>
      <p:sp>
        <p:nvSpPr>
          <p:cNvPr id="302" name="Google Shape;302;p14"/>
          <p:cNvSpPr/>
          <p:nvPr/>
        </p:nvSpPr>
        <p:spPr>
          <a:xfrm>
            <a:off x="731520" y="2377440"/>
            <a:ext cx="2194560" cy="224028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5A5A66"/>
              </a:buClr>
              <a:buSzPts val="1150"/>
              <a:buFont typeface="Calibri"/>
              <a:buChar char="•"/>
            </a:pPr>
            <a:r>
              <a:rPr b="0" i="0" lang="en-US" sz="1150" u="none" cap="none" strike="noStrike">
                <a:solidFill>
                  <a:srgbClr val="5A5A66"/>
                </a:solidFill>
                <a:latin typeface="Calibri"/>
                <a:ea typeface="Calibri"/>
                <a:cs typeface="Calibri"/>
                <a:sym typeface="Calibri"/>
              </a:rPr>
              <a:t>Excellents pour acculturer et former à grande échelle</a:t>
            </a:r>
            <a:endParaRPr b="0" i="0" sz="115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5A5A66"/>
              </a:buClr>
              <a:buSzPts val="1150"/>
              <a:buFont typeface="Calibri"/>
              <a:buChar char="•"/>
            </a:pPr>
            <a:r>
              <a:rPr b="0" i="0" lang="en-US" sz="1150" u="none" cap="none" strike="noStrike">
                <a:solidFill>
                  <a:srgbClr val="5A5A66"/>
                </a:solidFill>
                <a:latin typeface="Calibri"/>
                <a:ea typeface="Calibri"/>
                <a:cs typeface="Calibri"/>
                <a:sym typeface="Calibri"/>
              </a:rPr>
              <a:t>S'arrêtent souvent à la porte de la production</a:t>
            </a:r>
            <a:endParaRPr b="0" i="0" sz="115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5A5A66"/>
              </a:buClr>
              <a:buSzPts val="1150"/>
              <a:buFont typeface="Calibri"/>
              <a:buChar char="•"/>
            </a:pPr>
            <a:r>
              <a:rPr b="0" i="0" lang="en-US" sz="1150" u="none" cap="none" strike="noStrike">
                <a:solidFill>
                  <a:srgbClr val="5A5A66"/>
                </a:solidFill>
                <a:latin typeface="Calibri"/>
                <a:ea typeface="Calibri"/>
                <a:cs typeface="Calibri"/>
                <a:sym typeface="Calibri"/>
              </a:rPr>
              <a:t>Peu d'engagement sur l'infrastructure et la conformité long terme</a:t>
            </a:r>
            <a:endParaRPr b="0" i="0" sz="1150" u="none" cap="none" strike="noStrike">
              <a:solidFill>
                <a:srgbClr val="5A5A66"/>
              </a:solidFill>
              <a:latin typeface="Calibri"/>
              <a:ea typeface="Calibri"/>
              <a:cs typeface="Calibri"/>
              <a:sym typeface="Calibri"/>
            </a:endParaRPr>
          </a:p>
          <a:p>
            <a:pPr indent="-342900" lvl="0" marL="342900" marR="0" rtl="0" algn="l">
              <a:spcBef>
                <a:spcPts val="900"/>
              </a:spcBef>
              <a:spcAft>
                <a:spcPts val="0"/>
              </a:spcAft>
              <a:buClr>
                <a:srgbClr val="5A5A66"/>
              </a:buClr>
              <a:buSzPts val="1150"/>
              <a:buFont typeface="Calibri"/>
              <a:buChar char="•"/>
            </a:pPr>
            <a:r>
              <a:rPr lang="en-US" sz="1150">
                <a:solidFill>
                  <a:srgbClr val="5A5A66"/>
                </a:solidFill>
                <a:latin typeface="Calibri"/>
                <a:ea typeface="Calibri"/>
                <a:cs typeface="Calibri"/>
                <a:sym typeface="Calibri"/>
              </a:rPr>
              <a:t>Beaucoup de théories </a:t>
            </a:r>
            <a:r>
              <a:rPr lang="en-US" sz="1150">
                <a:solidFill>
                  <a:srgbClr val="5A5A66"/>
                </a:solidFill>
                <a:latin typeface="Calibri"/>
                <a:ea typeface="Calibri"/>
                <a:cs typeface="Calibri"/>
                <a:sym typeface="Calibri"/>
              </a:rPr>
              <a:t>générique</a:t>
            </a:r>
            <a:r>
              <a:rPr lang="en-US" sz="1150">
                <a:solidFill>
                  <a:srgbClr val="5A5A66"/>
                </a:solidFill>
                <a:latin typeface="Calibri"/>
                <a:ea typeface="Calibri"/>
                <a:cs typeface="Calibri"/>
                <a:sym typeface="Calibri"/>
              </a:rPr>
              <a:t> et pas de lien direct avec votre entreprises </a:t>
            </a:r>
            <a:endParaRPr sz="1150">
              <a:solidFill>
                <a:srgbClr val="5A5A66"/>
              </a:solidFill>
              <a:latin typeface="Calibri"/>
              <a:ea typeface="Calibri"/>
              <a:cs typeface="Calibri"/>
              <a:sym typeface="Calibri"/>
            </a:endParaRPr>
          </a:p>
        </p:txBody>
      </p:sp>
      <p:sp>
        <p:nvSpPr>
          <p:cNvPr id="303" name="Google Shape;303;p14"/>
          <p:cNvSpPr/>
          <p:nvPr/>
        </p:nvSpPr>
        <p:spPr>
          <a:xfrm>
            <a:off x="3291840" y="1463040"/>
            <a:ext cx="2606040" cy="3291840"/>
          </a:xfrm>
          <a:prstGeom prst="roundRect">
            <a:avLst>
              <a:gd fmla="val 2807" name="adj"/>
            </a:avLst>
          </a:prstGeom>
          <a:solidFill>
            <a:srgbClr val="F4F5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4"/>
          <p:cNvSpPr/>
          <p:nvPr/>
        </p:nvSpPr>
        <p:spPr>
          <a:xfrm>
            <a:off x="3520440" y="1691640"/>
            <a:ext cx="21945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500"/>
              <a:buFont typeface="Arial"/>
              <a:buNone/>
            </a:pPr>
            <a:r>
              <a:rPr b="1" i="0" lang="en-US" sz="1500" u="none" cap="none" strike="noStrike">
                <a:solidFill>
                  <a:srgbClr val="0B0B0F"/>
                </a:solidFill>
                <a:latin typeface="Arial"/>
                <a:ea typeface="Arial"/>
                <a:cs typeface="Arial"/>
                <a:sym typeface="Arial"/>
              </a:rPr>
              <a:t>Les ESN et intégrateurs</a:t>
            </a:r>
            <a:endParaRPr b="0" i="0" sz="1500" u="none" cap="none" strike="noStrike">
              <a:solidFill>
                <a:schemeClr val="dk1"/>
              </a:solidFill>
              <a:latin typeface="Calibri"/>
              <a:ea typeface="Calibri"/>
              <a:cs typeface="Calibri"/>
              <a:sym typeface="Calibri"/>
            </a:endParaRPr>
          </a:p>
        </p:txBody>
      </p:sp>
      <p:sp>
        <p:nvSpPr>
          <p:cNvPr id="305" name="Google Shape;305;p14"/>
          <p:cNvSpPr/>
          <p:nvPr/>
        </p:nvSpPr>
        <p:spPr>
          <a:xfrm>
            <a:off x="3520440" y="2377440"/>
            <a:ext cx="2194560" cy="224028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5A5A66"/>
              </a:buClr>
              <a:buSzPts val="1150"/>
              <a:buFont typeface="Calibri"/>
              <a:buChar char="•"/>
            </a:pPr>
            <a:r>
              <a:rPr b="0" i="0" lang="en-US" sz="1150" u="none" cap="none" strike="noStrike">
                <a:solidFill>
                  <a:srgbClr val="5A5A66"/>
                </a:solidFill>
                <a:latin typeface="Calibri"/>
                <a:ea typeface="Calibri"/>
                <a:cs typeface="Calibri"/>
                <a:sym typeface="Calibri"/>
              </a:rPr>
              <a:t>Capacité de delivery importante</a:t>
            </a:r>
            <a:endParaRPr b="0" i="0" sz="115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5A5A66"/>
              </a:buClr>
              <a:buSzPts val="1150"/>
              <a:buFont typeface="Calibri"/>
              <a:buChar char="•"/>
            </a:pPr>
            <a:r>
              <a:rPr b="0" i="0" lang="en-US" sz="1150" u="none" cap="none" strike="noStrike">
                <a:solidFill>
                  <a:srgbClr val="5A5A66"/>
                </a:solidFill>
                <a:latin typeface="Calibri"/>
                <a:ea typeface="Calibri"/>
                <a:cs typeface="Calibri"/>
                <a:sym typeface="Calibri"/>
              </a:rPr>
              <a:t>Modèle TJM : l'intérêt est de durer, pas de finir</a:t>
            </a:r>
            <a:endParaRPr b="0" i="0" sz="115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5A5A66"/>
              </a:buClr>
              <a:buSzPts val="1150"/>
              <a:buFont typeface="Calibri"/>
              <a:buChar char="•"/>
            </a:pPr>
            <a:r>
              <a:rPr b="0" i="0" lang="en-US" sz="1150" u="none" cap="none" strike="noStrike">
                <a:solidFill>
                  <a:srgbClr val="5A5A66"/>
                </a:solidFill>
                <a:latin typeface="Calibri"/>
                <a:ea typeface="Calibri"/>
                <a:cs typeface="Calibri"/>
                <a:sym typeface="Calibri"/>
              </a:rPr>
              <a:t>Solutions souvent liées à un cloud ou un éditeur unique</a:t>
            </a:r>
            <a:endParaRPr sz="1150">
              <a:solidFill>
                <a:srgbClr val="5A5A66"/>
              </a:solidFill>
              <a:latin typeface="Calibri"/>
              <a:ea typeface="Calibri"/>
              <a:cs typeface="Calibri"/>
              <a:sym typeface="Calibri"/>
            </a:endParaRPr>
          </a:p>
        </p:txBody>
      </p:sp>
      <p:sp>
        <p:nvSpPr>
          <p:cNvPr id="306" name="Google Shape;306;p14"/>
          <p:cNvSpPr/>
          <p:nvPr/>
        </p:nvSpPr>
        <p:spPr>
          <a:xfrm>
            <a:off x="6080760" y="1463040"/>
            <a:ext cx="2606040" cy="3291840"/>
          </a:xfrm>
          <a:prstGeom prst="roundRect">
            <a:avLst>
              <a:gd fmla="val 2807" name="adj"/>
            </a:avLst>
          </a:prstGeom>
          <a:solidFill>
            <a:srgbClr val="000091"/>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4"/>
          <p:cNvSpPr/>
          <p:nvPr/>
        </p:nvSpPr>
        <p:spPr>
          <a:xfrm>
            <a:off x="6309360" y="1691640"/>
            <a:ext cx="21945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ial"/>
              <a:buNone/>
            </a:pPr>
            <a:r>
              <a:rPr b="1" lang="en-US" sz="1500">
                <a:solidFill>
                  <a:srgbClr val="FFFFFF"/>
                </a:solidFill>
              </a:rPr>
              <a:t>REMPARIA (Le partenaire)</a:t>
            </a:r>
            <a:endParaRPr b="0" i="0" sz="1500" u="none" cap="none" strike="noStrike">
              <a:solidFill>
                <a:schemeClr val="dk1"/>
              </a:solidFill>
              <a:latin typeface="Calibri"/>
              <a:ea typeface="Calibri"/>
              <a:cs typeface="Calibri"/>
              <a:sym typeface="Calibri"/>
            </a:endParaRPr>
          </a:p>
        </p:txBody>
      </p:sp>
      <p:sp>
        <p:nvSpPr>
          <p:cNvPr id="308" name="Google Shape;308;p14"/>
          <p:cNvSpPr/>
          <p:nvPr/>
        </p:nvSpPr>
        <p:spPr>
          <a:xfrm>
            <a:off x="6309360" y="2377440"/>
            <a:ext cx="2194560" cy="224028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DADAF5"/>
              </a:buClr>
              <a:buSzPts val="1150"/>
              <a:buFont typeface="Calibri"/>
              <a:buChar char="•"/>
            </a:pPr>
            <a:r>
              <a:rPr b="0" i="0" lang="en-US" sz="1150" u="none" cap="none" strike="noStrike">
                <a:solidFill>
                  <a:srgbClr val="DADAF5"/>
                </a:solidFill>
                <a:latin typeface="Calibri"/>
                <a:ea typeface="Calibri"/>
                <a:cs typeface="Calibri"/>
                <a:sym typeface="Calibri"/>
              </a:rPr>
              <a:t>Agents en production sur infrastructure souveraine, agnostique LLM</a:t>
            </a:r>
            <a:endParaRPr b="0" i="0" sz="115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DADAF5"/>
              </a:buClr>
              <a:buSzPts val="1150"/>
              <a:buFont typeface="Calibri"/>
              <a:buChar char="•"/>
            </a:pPr>
            <a:r>
              <a:rPr b="0" i="0" lang="en-US" sz="1150" u="none" cap="none" strike="noStrike">
                <a:solidFill>
                  <a:srgbClr val="DADAF5"/>
                </a:solidFill>
                <a:latin typeface="Calibri"/>
                <a:ea typeface="Calibri"/>
                <a:cs typeface="Calibri"/>
                <a:sym typeface="Calibri"/>
              </a:rPr>
              <a:t>Facturation alignée sur vos gains, missions courtes et décisives</a:t>
            </a:r>
            <a:endParaRPr b="0" i="0" sz="115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DADAF5"/>
              </a:buClr>
              <a:buSzPts val="1150"/>
              <a:buFont typeface="Calibri"/>
              <a:buChar char="•"/>
            </a:pPr>
            <a:r>
              <a:rPr b="0" i="0" lang="en-US" sz="1150" u="none" cap="none" strike="noStrike">
                <a:solidFill>
                  <a:srgbClr val="DADAF5"/>
                </a:solidFill>
                <a:latin typeface="Calibri"/>
                <a:ea typeface="Calibri"/>
                <a:cs typeface="Calibri"/>
                <a:sym typeface="Calibri"/>
              </a:rPr>
              <a:t>Formation et transfert de compétences inclus : vos équipes deviennent autonomes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 name="Shape 313"/>
        <p:cNvGrpSpPr/>
        <p:nvPr/>
      </p:nvGrpSpPr>
      <p:grpSpPr>
        <a:xfrm>
          <a:off x="0" y="0"/>
          <a:ext cx="0" cy="0"/>
          <a:chOff x="0" y="0"/>
          <a:chExt cx="0" cy="0"/>
        </a:xfrm>
      </p:grpSpPr>
      <p:sp>
        <p:nvSpPr>
          <p:cNvPr id="314" name="Google Shape;314;p15"/>
          <p:cNvSpPr/>
          <p:nvPr/>
        </p:nvSpPr>
        <p:spPr>
          <a:xfrm>
            <a:off x="502920" y="292608"/>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1100"/>
              <a:buFont typeface="Arial"/>
              <a:buNone/>
            </a:pPr>
            <a:r>
              <a:rPr b="1" i="0" lang="en-US" sz="1100" u="none" cap="none" strike="noStrike">
                <a:solidFill>
                  <a:srgbClr val="000091"/>
                </a:solidFill>
                <a:latin typeface="Arial"/>
                <a:ea typeface="Arial"/>
                <a:cs typeface="Arial"/>
                <a:sym typeface="Arial"/>
              </a:rPr>
              <a:t>QUI SOMMES NOUS</a:t>
            </a:r>
            <a:endParaRPr b="0" i="0" sz="1100" u="none" cap="none" strike="noStrike">
              <a:solidFill>
                <a:schemeClr val="dk1"/>
              </a:solidFill>
              <a:latin typeface="Calibri"/>
              <a:ea typeface="Calibri"/>
              <a:cs typeface="Calibri"/>
              <a:sym typeface="Calibri"/>
            </a:endParaRPr>
          </a:p>
        </p:txBody>
      </p:sp>
      <p:sp>
        <p:nvSpPr>
          <p:cNvPr id="315" name="Google Shape;315;p15"/>
          <p:cNvSpPr/>
          <p:nvPr/>
        </p:nvSpPr>
        <p:spPr>
          <a:xfrm>
            <a:off x="502920" y="530352"/>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3000"/>
              <a:buFont typeface="Arial"/>
              <a:buNone/>
            </a:pPr>
            <a:r>
              <a:rPr b="1" i="0" lang="en-US" sz="3000" u="none" cap="none" strike="noStrike">
                <a:solidFill>
                  <a:srgbClr val="0B0B0F"/>
                </a:solidFill>
                <a:latin typeface="Arial"/>
                <a:ea typeface="Arial"/>
                <a:cs typeface="Arial"/>
                <a:sym typeface="Arial"/>
              </a:rPr>
              <a:t>Un duo d'associés opérateurs, pas une armée de juniors.</a:t>
            </a:r>
            <a:endParaRPr b="0" i="0" sz="3000" u="none" cap="none" strike="noStrike">
              <a:solidFill>
                <a:schemeClr val="dk1"/>
              </a:solidFill>
              <a:latin typeface="Calibri"/>
              <a:ea typeface="Calibri"/>
              <a:cs typeface="Calibri"/>
              <a:sym typeface="Calibri"/>
            </a:endParaRPr>
          </a:p>
        </p:txBody>
      </p:sp>
      <p:sp>
        <p:nvSpPr>
          <p:cNvPr id="316" name="Google Shape;316;p15"/>
          <p:cNvSpPr/>
          <p:nvPr/>
        </p:nvSpPr>
        <p:spPr>
          <a:xfrm>
            <a:off x="502920" y="1325880"/>
            <a:ext cx="8138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350"/>
              <a:buFont typeface="Calibri"/>
              <a:buNone/>
            </a:pPr>
            <a:r>
              <a:rPr lang="en-US" sz="1350">
                <a:solidFill>
                  <a:srgbClr val="5A5A66"/>
                </a:solidFill>
                <a:latin typeface="Calibri"/>
                <a:ea typeface="Calibri"/>
                <a:cs typeface="Calibri"/>
                <a:sym typeface="Calibri"/>
              </a:rPr>
              <a:t>REMPARIA</a:t>
            </a:r>
            <a:r>
              <a:rPr b="0" i="0" lang="en-US" sz="1350" u="none" cap="none" strike="noStrike">
                <a:solidFill>
                  <a:srgbClr val="5A5A66"/>
                </a:solidFill>
                <a:latin typeface="Calibri"/>
                <a:ea typeface="Calibri"/>
                <a:cs typeface="Calibri"/>
                <a:sym typeface="Calibri"/>
              </a:rPr>
              <a:t> est fondé et opéré par ses associés. Ceux qui vendent sont ceux qui livrent. Pas d'avant vente brillante suivie d'une équipe junior : vous travaillez avec nous du premier rendez vous à la mise en production.</a:t>
            </a:r>
            <a:endParaRPr b="0" i="0" sz="1350" u="none" cap="none" strike="noStrike">
              <a:solidFill>
                <a:schemeClr val="dk1"/>
              </a:solidFill>
              <a:latin typeface="Calibri"/>
              <a:ea typeface="Calibri"/>
              <a:cs typeface="Calibri"/>
              <a:sym typeface="Calibri"/>
            </a:endParaRPr>
          </a:p>
        </p:txBody>
      </p:sp>
      <p:sp>
        <p:nvSpPr>
          <p:cNvPr id="317" name="Google Shape;317;p15"/>
          <p:cNvSpPr/>
          <p:nvPr/>
        </p:nvSpPr>
        <p:spPr>
          <a:xfrm>
            <a:off x="502920" y="2057400"/>
            <a:ext cx="3977640" cy="2697480"/>
          </a:xfrm>
          <a:prstGeom prst="roundRect">
            <a:avLst>
              <a:gd fmla="val 2712" name="adj"/>
            </a:avLst>
          </a:prstGeom>
          <a:solidFill>
            <a:srgbClr val="F4F5FA"/>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5"/>
          <p:cNvSpPr/>
          <p:nvPr/>
        </p:nvSpPr>
        <p:spPr>
          <a:xfrm>
            <a:off x="758952" y="2286000"/>
            <a:ext cx="566928" cy="566928"/>
          </a:xfrm>
          <a:prstGeom prst="ellipse">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5"/>
          <p:cNvSpPr/>
          <p:nvPr/>
        </p:nvSpPr>
        <p:spPr>
          <a:xfrm>
            <a:off x="758952" y="228600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T</a:t>
            </a:r>
            <a:endParaRPr b="0" i="0" sz="2400" u="none" cap="none" strike="noStrike">
              <a:solidFill>
                <a:schemeClr val="dk1"/>
              </a:solidFill>
              <a:latin typeface="Calibri"/>
              <a:ea typeface="Calibri"/>
              <a:cs typeface="Calibri"/>
              <a:sym typeface="Calibri"/>
            </a:endParaRPr>
          </a:p>
        </p:txBody>
      </p:sp>
      <p:sp>
        <p:nvSpPr>
          <p:cNvPr id="320" name="Google Shape;320;p15"/>
          <p:cNvSpPr/>
          <p:nvPr/>
        </p:nvSpPr>
        <p:spPr>
          <a:xfrm>
            <a:off x="1463040" y="2304288"/>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700"/>
              <a:buFont typeface="Arial"/>
              <a:buNone/>
            </a:pPr>
            <a:r>
              <a:rPr b="1" i="0" lang="en-US" sz="1700" u="none" cap="none" strike="noStrike">
                <a:solidFill>
                  <a:srgbClr val="0B0B0F"/>
                </a:solidFill>
                <a:latin typeface="Arial"/>
                <a:ea typeface="Arial"/>
                <a:cs typeface="Arial"/>
                <a:sym typeface="Arial"/>
              </a:rPr>
              <a:t>Tannous</a:t>
            </a:r>
            <a:endParaRPr b="0" i="0" sz="1700" u="none" cap="none" strike="noStrike">
              <a:solidFill>
                <a:schemeClr val="dk1"/>
              </a:solidFill>
              <a:latin typeface="Calibri"/>
              <a:ea typeface="Calibri"/>
              <a:cs typeface="Calibri"/>
              <a:sym typeface="Calibri"/>
            </a:endParaRPr>
          </a:p>
        </p:txBody>
      </p:sp>
      <p:sp>
        <p:nvSpPr>
          <p:cNvPr id="321" name="Google Shape;321;p15"/>
          <p:cNvSpPr/>
          <p:nvPr/>
        </p:nvSpPr>
        <p:spPr>
          <a:xfrm>
            <a:off x="1463040" y="2624328"/>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1150"/>
              <a:buFont typeface="Calibri"/>
              <a:buNone/>
            </a:pPr>
            <a:r>
              <a:rPr b="0" i="1" lang="en-US" sz="1150" u="none" cap="none" strike="noStrike">
                <a:solidFill>
                  <a:srgbClr val="000091"/>
                </a:solidFill>
                <a:latin typeface="Calibri"/>
                <a:ea typeface="Calibri"/>
                <a:cs typeface="Calibri"/>
                <a:sym typeface="Calibri"/>
              </a:rPr>
              <a:t>Associé, stratégie et delivery</a:t>
            </a:r>
            <a:endParaRPr b="0" i="0" sz="1150" u="none" cap="none" strike="noStrike">
              <a:solidFill>
                <a:schemeClr val="dk1"/>
              </a:solidFill>
              <a:latin typeface="Calibri"/>
              <a:ea typeface="Calibri"/>
              <a:cs typeface="Calibri"/>
              <a:sym typeface="Calibri"/>
            </a:endParaRPr>
          </a:p>
        </p:txBody>
      </p:sp>
      <p:sp>
        <p:nvSpPr>
          <p:cNvPr id="322" name="Google Shape;322;p15"/>
          <p:cNvSpPr/>
          <p:nvPr/>
        </p:nvSpPr>
        <p:spPr>
          <a:xfrm>
            <a:off x="758952" y="3063240"/>
            <a:ext cx="3520440" cy="16002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5A5A66"/>
              </a:buClr>
              <a:buSzPts val="1100"/>
              <a:buFont typeface="Calibri"/>
              <a:buChar char="•"/>
            </a:pPr>
            <a:r>
              <a:rPr b="0" i="0" lang="en-US" sz="1100" u="none" cap="none" strike="noStrike">
                <a:solidFill>
                  <a:srgbClr val="5A5A66"/>
                </a:solidFill>
                <a:latin typeface="Calibri"/>
                <a:ea typeface="Calibri"/>
                <a:cs typeface="Calibri"/>
                <a:sym typeface="Calibri"/>
              </a:rPr>
              <a:t>15 ans et plus de direction digitale et IT, ex membre de comité exécutif</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5A5A66"/>
              </a:buClr>
              <a:buSzPts val="1100"/>
              <a:buFont typeface="Calibri"/>
              <a:buChar char="•"/>
            </a:pPr>
            <a:r>
              <a:rPr b="0" i="0" lang="en-US" sz="1100" u="none" cap="none" strike="noStrike">
                <a:solidFill>
                  <a:srgbClr val="5A5A66"/>
                </a:solidFill>
                <a:latin typeface="Calibri"/>
                <a:ea typeface="Calibri"/>
                <a:cs typeface="Calibri"/>
                <a:sym typeface="Calibri"/>
              </a:rPr>
              <a:t>Practice builder : équipes et business units montées de zéro à l'échelle</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5A5A66"/>
              </a:buClr>
              <a:buSzPts val="1100"/>
              <a:buFont typeface="Calibri"/>
              <a:buChar char="•"/>
            </a:pPr>
            <a:r>
              <a:rPr b="0" i="0" lang="en-US" sz="1100" u="none" cap="none" strike="noStrike">
                <a:solidFill>
                  <a:srgbClr val="5A5A66"/>
                </a:solidFill>
                <a:latin typeface="Calibri"/>
                <a:ea typeface="Calibri"/>
                <a:cs typeface="Calibri"/>
                <a:sym typeface="Calibri"/>
              </a:rPr>
              <a:t>Opère sa propre infrastructure IA agentique souveraine en production</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5A5A66"/>
              </a:buClr>
              <a:buSzPts val="1100"/>
              <a:buFont typeface="Calibri"/>
              <a:buChar char="•"/>
            </a:pPr>
            <a:r>
              <a:rPr b="0" i="0" lang="en-US" sz="1100" u="none" cap="none" strike="noStrike">
                <a:solidFill>
                  <a:srgbClr val="5A5A66"/>
                </a:solidFill>
                <a:latin typeface="Calibri"/>
                <a:ea typeface="Calibri"/>
                <a:cs typeface="Calibri"/>
                <a:sym typeface="Calibri"/>
              </a:rPr>
              <a:t>Trilingue français, anglais, arabe, réseau C level activable</a:t>
            </a:r>
            <a:endParaRPr b="0" i="0" sz="1100" u="none" cap="none" strike="noStrike">
              <a:solidFill>
                <a:schemeClr val="dk1"/>
              </a:solidFill>
              <a:latin typeface="Calibri"/>
              <a:ea typeface="Calibri"/>
              <a:cs typeface="Calibri"/>
              <a:sym typeface="Calibri"/>
            </a:endParaRPr>
          </a:p>
        </p:txBody>
      </p:sp>
      <p:sp>
        <p:nvSpPr>
          <p:cNvPr id="323" name="Google Shape;323;p15"/>
          <p:cNvSpPr/>
          <p:nvPr/>
        </p:nvSpPr>
        <p:spPr>
          <a:xfrm>
            <a:off x="4663440" y="2057400"/>
            <a:ext cx="3977640" cy="2697480"/>
          </a:xfrm>
          <a:prstGeom prst="roundRect">
            <a:avLst>
              <a:gd fmla="val 2712" name="adj"/>
            </a:avLst>
          </a:prstGeom>
          <a:solidFill>
            <a:srgbClr val="F4F5FA"/>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5"/>
          <p:cNvSpPr/>
          <p:nvPr/>
        </p:nvSpPr>
        <p:spPr>
          <a:xfrm>
            <a:off x="4919472" y="2286000"/>
            <a:ext cx="566928" cy="566928"/>
          </a:xfrm>
          <a:prstGeom prst="ellipse">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5"/>
          <p:cNvSpPr/>
          <p:nvPr/>
        </p:nvSpPr>
        <p:spPr>
          <a:xfrm>
            <a:off x="4919472" y="228600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S</a:t>
            </a:r>
            <a:endParaRPr b="0" i="0" sz="2400" u="none" cap="none" strike="noStrike">
              <a:solidFill>
                <a:schemeClr val="dk1"/>
              </a:solidFill>
              <a:latin typeface="Calibri"/>
              <a:ea typeface="Calibri"/>
              <a:cs typeface="Calibri"/>
              <a:sym typeface="Calibri"/>
            </a:endParaRPr>
          </a:p>
        </p:txBody>
      </p:sp>
      <p:sp>
        <p:nvSpPr>
          <p:cNvPr id="326" name="Google Shape;326;p15"/>
          <p:cNvSpPr/>
          <p:nvPr/>
        </p:nvSpPr>
        <p:spPr>
          <a:xfrm>
            <a:off x="5623560" y="2304288"/>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B0F"/>
              </a:buClr>
              <a:buSzPts val="1700"/>
              <a:buFont typeface="Arial"/>
              <a:buNone/>
            </a:pPr>
            <a:r>
              <a:rPr b="1" i="0" lang="en-US" sz="1700" u="none" cap="none" strike="noStrike">
                <a:solidFill>
                  <a:srgbClr val="0B0B0F"/>
                </a:solidFill>
                <a:latin typeface="Arial"/>
                <a:ea typeface="Arial"/>
                <a:cs typeface="Arial"/>
                <a:sym typeface="Arial"/>
              </a:rPr>
              <a:t>Seb</a:t>
            </a:r>
            <a:endParaRPr b="0" i="0" sz="1700" u="none" cap="none" strike="noStrike">
              <a:solidFill>
                <a:schemeClr val="dk1"/>
              </a:solidFill>
              <a:latin typeface="Calibri"/>
              <a:ea typeface="Calibri"/>
              <a:cs typeface="Calibri"/>
              <a:sym typeface="Calibri"/>
            </a:endParaRPr>
          </a:p>
        </p:txBody>
      </p:sp>
      <p:sp>
        <p:nvSpPr>
          <p:cNvPr id="327" name="Google Shape;327;p15"/>
          <p:cNvSpPr/>
          <p:nvPr/>
        </p:nvSpPr>
        <p:spPr>
          <a:xfrm>
            <a:off x="5623560" y="2624328"/>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91"/>
              </a:buClr>
              <a:buSzPts val="1150"/>
              <a:buFont typeface="Calibri"/>
              <a:buNone/>
            </a:pPr>
            <a:r>
              <a:rPr b="0" i="1" lang="en-US" sz="1150" u="none" cap="none" strike="noStrike">
                <a:solidFill>
                  <a:srgbClr val="000091"/>
                </a:solidFill>
                <a:latin typeface="Calibri"/>
                <a:ea typeface="Calibri"/>
                <a:cs typeface="Calibri"/>
                <a:sym typeface="Calibri"/>
              </a:rPr>
              <a:t>Associé, ingénierie et solutions</a:t>
            </a:r>
            <a:endParaRPr b="0" i="0" sz="1150" u="none" cap="none" strike="noStrike">
              <a:solidFill>
                <a:schemeClr val="dk1"/>
              </a:solidFill>
              <a:latin typeface="Calibri"/>
              <a:ea typeface="Calibri"/>
              <a:cs typeface="Calibri"/>
              <a:sym typeface="Calibri"/>
            </a:endParaRPr>
          </a:p>
        </p:txBody>
      </p:sp>
      <p:sp>
        <p:nvSpPr>
          <p:cNvPr id="328" name="Google Shape;328;p15"/>
          <p:cNvSpPr/>
          <p:nvPr/>
        </p:nvSpPr>
        <p:spPr>
          <a:xfrm>
            <a:off x="4919472" y="3063240"/>
            <a:ext cx="3520440" cy="16002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5A5A66"/>
              </a:buClr>
              <a:buSzPts val="1100"/>
              <a:buFont typeface="Calibri"/>
              <a:buChar char="•"/>
            </a:pPr>
            <a:r>
              <a:rPr b="0" i="0" lang="en-US" sz="1100" u="none" cap="none" strike="noStrike">
                <a:solidFill>
                  <a:srgbClr val="5A5A66"/>
                </a:solidFill>
                <a:latin typeface="Calibri"/>
                <a:ea typeface="Calibri"/>
                <a:cs typeface="Calibri"/>
                <a:sym typeface="Calibri"/>
              </a:rPr>
              <a:t>Expertise technique senior sur les architectures IA et l'intégration</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5A5A66"/>
              </a:buClr>
              <a:buSzPts val="1100"/>
              <a:buFont typeface="Calibri"/>
              <a:buChar char="•"/>
            </a:pPr>
            <a:r>
              <a:rPr b="0" i="0" lang="en-US" sz="1100" u="none" cap="none" strike="noStrike">
                <a:solidFill>
                  <a:srgbClr val="5A5A66"/>
                </a:solidFill>
                <a:latin typeface="Calibri"/>
                <a:ea typeface="Calibri"/>
                <a:cs typeface="Calibri"/>
                <a:sym typeface="Calibri"/>
              </a:rPr>
              <a:t>Conception et industrialisation des agents et des socles clients</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5A5A66"/>
              </a:buClr>
              <a:buSzPts val="1100"/>
              <a:buFont typeface="Calibri"/>
              <a:buChar char="•"/>
            </a:pPr>
            <a:r>
              <a:rPr b="0" i="0" lang="en-US" sz="1100" u="none" cap="none" strike="noStrike">
                <a:solidFill>
                  <a:srgbClr val="5A5A66"/>
                </a:solidFill>
                <a:latin typeface="Calibri"/>
                <a:ea typeface="Calibri"/>
                <a:cs typeface="Calibri"/>
                <a:sym typeface="Calibri"/>
              </a:rPr>
              <a:t>Garant de la qualité, de la sécurité par conception et de la maintenabilité</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5A5A66"/>
              </a:buClr>
              <a:buSzPts val="1100"/>
              <a:buFont typeface="Calibri"/>
              <a:buChar char="•"/>
            </a:pPr>
            <a:r>
              <a:rPr b="0" i="0" lang="en-US" sz="1100" u="none" cap="none" strike="noStrike">
                <a:solidFill>
                  <a:srgbClr val="5A5A66"/>
                </a:solidFill>
                <a:latin typeface="Calibri"/>
                <a:ea typeface="Calibri"/>
                <a:cs typeface="Calibri"/>
                <a:sym typeface="Calibri"/>
              </a:rPr>
              <a:t>Le binôme business plus ingénierie, sur chaque mission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F"/>
        </a:solidFill>
      </p:bgPr>
    </p:bg>
    <p:spTree>
      <p:nvGrpSpPr>
        <p:cNvPr id="333" name="Shape 333"/>
        <p:cNvGrpSpPr/>
        <p:nvPr/>
      </p:nvGrpSpPr>
      <p:grpSpPr>
        <a:xfrm>
          <a:off x="0" y="0"/>
          <a:ext cx="0" cy="0"/>
          <a:chOff x="0" y="0"/>
          <a:chExt cx="0" cy="0"/>
        </a:xfrm>
      </p:grpSpPr>
      <p:sp>
        <p:nvSpPr>
          <p:cNvPr id="334" name="Google Shape;334;p16"/>
          <p:cNvSpPr/>
          <p:nvPr/>
        </p:nvSpPr>
        <p:spPr>
          <a:xfrm>
            <a:off x="502920" y="683514"/>
            <a:ext cx="50292" cy="96012"/>
          </a:xfrm>
          <a:prstGeom prst="roundRect">
            <a:avLst>
              <a:gd fmla="val 50000" name="adj"/>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6"/>
          <p:cNvSpPr/>
          <p:nvPr/>
        </p:nvSpPr>
        <p:spPr>
          <a:xfrm>
            <a:off x="928597" y="635508"/>
            <a:ext cx="50292" cy="192024"/>
          </a:xfrm>
          <a:prstGeom prst="roundRect">
            <a:avLst>
              <a:gd fmla="val 50000" name="adj"/>
            </a:avLst>
          </a:prstGeom>
          <a:solidFill>
            <a:srgbClr val="232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6"/>
          <p:cNvSpPr/>
          <p:nvPr/>
        </p:nvSpPr>
        <p:spPr>
          <a:xfrm>
            <a:off x="1354275" y="571500"/>
            <a:ext cx="50292" cy="320040"/>
          </a:xfrm>
          <a:prstGeom prst="roundRect">
            <a:avLst>
              <a:gd fmla="val 50000" name="adj"/>
            </a:avLst>
          </a:prstGeom>
          <a:solidFill>
            <a:srgbClr val="4A4A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6"/>
          <p:cNvSpPr/>
          <p:nvPr/>
        </p:nvSpPr>
        <p:spPr>
          <a:xfrm>
            <a:off x="1779952" y="459486"/>
            <a:ext cx="50292" cy="544068"/>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6"/>
          <p:cNvSpPr/>
          <p:nvPr/>
        </p:nvSpPr>
        <p:spPr>
          <a:xfrm>
            <a:off x="2205629" y="539496"/>
            <a:ext cx="50292" cy="384048"/>
          </a:xfrm>
          <a:prstGeom prst="roundRect">
            <a:avLst>
              <a:gd fmla="val 50000" name="adj"/>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6"/>
          <p:cNvSpPr/>
          <p:nvPr/>
        </p:nvSpPr>
        <p:spPr>
          <a:xfrm>
            <a:off x="2631306" y="411480"/>
            <a:ext cx="50292" cy="640080"/>
          </a:xfrm>
          <a:prstGeom prst="roundRect">
            <a:avLst>
              <a:gd fmla="val 50000" name="adj"/>
            </a:avLst>
          </a:prstGeom>
          <a:solidFill>
            <a:srgbClr val="232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6"/>
          <p:cNvSpPr/>
          <p:nvPr/>
        </p:nvSpPr>
        <p:spPr>
          <a:xfrm>
            <a:off x="3056984" y="507492"/>
            <a:ext cx="50292" cy="448056"/>
          </a:xfrm>
          <a:prstGeom prst="roundRect">
            <a:avLst>
              <a:gd fmla="val 50000" name="adj"/>
            </a:avLst>
          </a:prstGeom>
          <a:solidFill>
            <a:srgbClr val="4A4A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6"/>
          <p:cNvSpPr/>
          <p:nvPr/>
        </p:nvSpPr>
        <p:spPr>
          <a:xfrm>
            <a:off x="3482661" y="603504"/>
            <a:ext cx="50292" cy="256032"/>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6"/>
          <p:cNvSpPr/>
          <p:nvPr/>
        </p:nvSpPr>
        <p:spPr>
          <a:xfrm>
            <a:off x="3908338" y="443484"/>
            <a:ext cx="50292" cy="576072"/>
          </a:xfrm>
          <a:prstGeom prst="roundRect">
            <a:avLst>
              <a:gd fmla="val 50000" name="adj"/>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6"/>
          <p:cNvSpPr/>
          <p:nvPr/>
        </p:nvSpPr>
        <p:spPr>
          <a:xfrm>
            <a:off x="4334015" y="555498"/>
            <a:ext cx="50292" cy="352044"/>
          </a:xfrm>
          <a:prstGeom prst="roundRect">
            <a:avLst>
              <a:gd fmla="val 50000" name="adj"/>
            </a:avLst>
          </a:prstGeom>
          <a:solidFill>
            <a:srgbClr val="232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6"/>
          <p:cNvSpPr/>
          <p:nvPr/>
        </p:nvSpPr>
        <p:spPr>
          <a:xfrm>
            <a:off x="4759693" y="491490"/>
            <a:ext cx="50292" cy="480060"/>
          </a:xfrm>
          <a:prstGeom prst="roundRect">
            <a:avLst>
              <a:gd fmla="val 50000" name="adj"/>
            </a:avLst>
          </a:prstGeom>
          <a:solidFill>
            <a:srgbClr val="4A4A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6"/>
          <p:cNvSpPr/>
          <p:nvPr/>
        </p:nvSpPr>
        <p:spPr>
          <a:xfrm>
            <a:off x="5185370" y="619506"/>
            <a:ext cx="50292" cy="224028"/>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6"/>
          <p:cNvSpPr/>
          <p:nvPr/>
        </p:nvSpPr>
        <p:spPr>
          <a:xfrm>
            <a:off x="5611047" y="539496"/>
            <a:ext cx="50292" cy="384048"/>
          </a:xfrm>
          <a:prstGeom prst="roundRect">
            <a:avLst>
              <a:gd fmla="val 50000" name="adj"/>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6"/>
          <p:cNvSpPr/>
          <p:nvPr/>
        </p:nvSpPr>
        <p:spPr>
          <a:xfrm>
            <a:off x="6036724" y="667512"/>
            <a:ext cx="50292" cy="128016"/>
          </a:xfrm>
          <a:prstGeom prst="roundRect">
            <a:avLst>
              <a:gd fmla="val 50000" name="adj"/>
            </a:avLst>
          </a:prstGeom>
          <a:solidFill>
            <a:srgbClr val="232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6"/>
          <p:cNvSpPr/>
          <p:nvPr/>
        </p:nvSpPr>
        <p:spPr>
          <a:xfrm>
            <a:off x="6462402" y="587502"/>
            <a:ext cx="50292" cy="288036"/>
          </a:xfrm>
          <a:prstGeom prst="roundRect">
            <a:avLst>
              <a:gd fmla="val 50000" name="adj"/>
            </a:avLst>
          </a:prstGeom>
          <a:solidFill>
            <a:srgbClr val="4A4A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6"/>
          <p:cNvSpPr/>
          <p:nvPr/>
        </p:nvSpPr>
        <p:spPr>
          <a:xfrm>
            <a:off x="6888079" y="475488"/>
            <a:ext cx="50292" cy="512064"/>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6"/>
          <p:cNvSpPr/>
          <p:nvPr/>
        </p:nvSpPr>
        <p:spPr>
          <a:xfrm>
            <a:off x="7313756" y="571500"/>
            <a:ext cx="50292" cy="320040"/>
          </a:xfrm>
          <a:prstGeom prst="roundRect">
            <a:avLst>
              <a:gd fmla="val 50000" name="adj"/>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6"/>
          <p:cNvSpPr/>
          <p:nvPr/>
        </p:nvSpPr>
        <p:spPr>
          <a:xfrm>
            <a:off x="7739433" y="635508"/>
            <a:ext cx="50292" cy="192024"/>
          </a:xfrm>
          <a:prstGeom prst="roundRect">
            <a:avLst>
              <a:gd fmla="val 50000" name="adj"/>
            </a:avLst>
          </a:prstGeom>
          <a:solidFill>
            <a:srgbClr val="232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6"/>
          <p:cNvSpPr/>
          <p:nvPr/>
        </p:nvSpPr>
        <p:spPr>
          <a:xfrm>
            <a:off x="8165111" y="523494"/>
            <a:ext cx="50292" cy="416052"/>
          </a:xfrm>
          <a:prstGeom prst="roundRect">
            <a:avLst>
              <a:gd fmla="val 50000" name="adj"/>
            </a:avLst>
          </a:prstGeom>
          <a:solidFill>
            <a:srgbClr val="4A4A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6"/>
          <p:cNvSpPr/>
          <p:nvPr/>
        </p:nvSpPr>
        <p:spPr>
          <a:xfrm>
            <a:off x="8590788" y="651510"/>
            <a:ext cx="50292" cy="16002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6"/>
          <p:cNvSpPr/>
          <p:nvPr/>
        </p:nvSpPr>
        <p:spPr>
          <a:xfrm>
            <a:off x="502920" y="1417320"/>
            <a:ext cx="81381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Passons du bruit au signal.</a:t>
            </a:r>
            <a:endParaRPr b="0" i="0" sz="3400" u="none" cap="none" strike="noStrike">
              <a:solidFill>
                <a:schemeClr val="dk1"/>
              </a:solidFill>
              <a:latin typeface="Calibri"/>
              <a:ea typeface="Calibri"/>
              <a:cs typeface="Calibri"/>
              <a:sym typeface="Calibri"/>
            </a:endParaRPr>
          </a:p>
        </p:txBody>
      </p:sp>
      <p:sp>
        <p:nvSpPr>
          <p:cNvPr id="355" name="Google Shape;355;p16"/>
          <p:cNvSpPr/>
          <p:nvPr/>
        </p:nvSpPr>
        <p:spPr>
          <a:xfrm>
            <a:off x="502920" y="2148840"/>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C9E8"/>
              </a:buClr>
              <a:buSzPts val="1450"/>
              <a:buFont typeface="Calibri"/>
              <a:buNone/>
            </a:pPr>
            <a:r>
              <a:rPr b="0" i="0" lang="en-US" sz="1450" u="none" cap="none" strike="noStrike">
                <a:solidFill>
                  <a:srgbClr val="C9C9E8"/>
                </a:solidFill>
                <a:latin typeface="Calibri"/>
                <a:ea typeface="Calibri"/>
                <a:cs typeface="Calibri"/>
                <a:sym typeface="Calibri"/>
              </a:rPr>
              <a:t>Une heure. Votre processus le plus chronophage. Notre système en live. Vous repartez avec un chiffrage du gain potentiel et une feuille de route, que vous décidiez de travailler avec nous ou pas.</a:t>
            </a:r>
            <a:endParaRPr b="0" i="0" sz="1450" u="none" cap="none" strike="noStrike">
              <a:solidFill>
                <a:schemeClr val="dk1"/>
              </a:solidFill>
              <a:latin typeface="Calibri"/>
              <a:ea typeface="Calibri"/>
              <a:cs typeface="Calibri"/>
              <a:sym typeface="Calibri"/>
            </a:endParaRPr>
          </a:p>
        </p:txBody>
      </p:sp>
      <p:sp>
        <p:nvSpPr>
          <p:cNvPr id="356" name="Google Shape;356;p16"/>
          <p:cNvSpPr/>
          <p:nvPr/>
        </p:nvSpPr>
        <p:spPr>
          <a:xfrm>
            <a:off x="502920" y="3063240"/>
            <a:ext cx="2606040" cy="1417320"/>
          </a:xfrm>
          <a:prstGeom prst="roundRect">
            <a:avLst>
              <a:gd fmla="val 5161" name="adj"/>
            </a:avLst>
          </a:prstGeom>
          <a:solidFill>
            <a:srgbClr val="16161F"/>
          </a:solidFill>
          <a:ln cap="flat" cmpd="sng" w="12700">
            <a:solidFill>
              <a:srgbClr val="2A2A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6"/>
          <p:cNvSpPr/>
          <p:nvPr/>
        </p:nvSpPr>
        <p:spPr>
          <a:xfrm>
            <a:off x="704088" y="3246120"/>
            <a:ext cx="402336" cy="402336"/>
          </a:xfrm>
          <a:prstGeom prst="ellipse">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8" name="Google Shape;358;p16"/>
          <p:cNvPicPr preferRelativeResize="0"/>
          <p:nvPr/>
        </p:nvPicPr>
        <p:blipFill rotWithShape="1">
          <a:blip r:embed="rId4">
            <a:alphaModFix/>
          </a:blip>
          <a:srcRect b="0" l="0" r="0" t="0"/>
          <a:stretch/>
        </p:blipFill>
        <p:spPr>
          <a:xfrm>
            <a:off x="804672" y="3346704"/>
            <a:ext cx="201168" cy="201168"/>
          </a:xfrm>
          <a:prstGeom prst="rect">
            <a:avLst/>
          </a:prstGeom>
          <a:noFill/>
          <a:ln>
            <a:noFill/>
          </a:ln>
        </p:spPr>
      </p:pic>
      <p:sp>
        <p:nvSpPr>
          <p:cNvPr id="359" name="Google Shape;359;p16"/>
          <p:cNvSpPr/>
          <p:nvPr/>
        </p:nvSpPr>
        <p:spPr>
          <a:xfrm>
            <a:off x="704098" y="3730750"/>
            <a:ext cx="1788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Arial"/>
              <a:buNone/>
            </a:pPr>
            <a:r>
              <a:rPr b="1" i="0" lang="en-US" sz="1250" u="none" cap="none" strike="noStrike">
                <a:solidFill>
                  <a:srgbClr val="FFFFFF"/>
                </a:solidFill>
                <a:latin typeface="Arial"/>
                <a:ea typeface="Arial"/>
                <a:cs typeface="Arial"/>
                <a:sym typeface="Arial"/>
              </a:rPr>
              <a:t>Réservez </a:t>
            </a:r>
            <a:r>
              <a:rPr b="1" lang="en-US" sz="1250">
                <a:solidFill>
                  <a:srgbClr val="FFFFFF"/>
                </a:solidFill>
              </a:rPr>
              <a:t>une échange de 30 min</a:t>
            </a:r>
            <a:endParaRPr b="0" i="0" sz="1250" u="none" cap="none" strike="noStrike">
              <a:solidFill>
                <a:schemeClr val="dk1"/>
              </a:solidFill>
              <a:latin typeface="Calibri"/>
              <a:ea typeface="Calibri"/>
              <a:cs typeface="Calibri"/>
              <a:sym typeface="Calibri"/>
            </a:endParaRPr>
          </a:p>
        </p:txBody>
      </p:sp>
      <p:sp>
        <p:nvSpPr>
          <p:cNvPr id="360" name="Google Shape;360;p16"/>
          <p:cNvSpPr/>
          <p:nvPr/>
        </p:nvSpPr>
        <p:spPr>
          <a:xfrm>
            <a:off x="704088" y="4005072"/>
            <a:ext cx="22402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9AB5"/>
              </a:buClr>
              <a:buSzPts val="1000"/>
              <a:buFont typeface="Calibri"/>
              <a:buNone/>
            </a:pPr>
            <a:r>
              <a:rPr b="0" i="0" lang="en-US" sz="1000" u="none" cap="none" strike="noStrike">
                <a:solidFill>
                  <a:srgbClr val="9A9AB5"/>
                </a:solidFill>
                <a:latin typeface="Calibri"/>
                <a:ea typeface="Calibri"/>
                <a:cs typeface="Calibri"/>
                <a:sym typeface="Calibri"/>
              </a:rPr>
              <a:t>Une heure, sur vos cas d'usage, disponibilité sous 48h</a:t>
            </a:r>
            <a:endParaRPr b="0" i="0" sz="1000" u="none" cap="none" strike="noStrike">
              <a:solidFill>
                <a:schemeClr val="dk1"/>
              </a:solidFill>
              <a:latin typeface="Calibri"/>
              <a:ea typeface="Calibri"/>
              <a:cs typeface="Calibri"/>
              <a:sym typeface="Calibri"/>
            </a:endParaRPr>
          </a:p>
        </p:txBody>
      </p:sp>
      <p:sp>
        <p:nvSpPr>
          <p:cNvPr id="361" name="Google Shape;361;p16"/>
          <p:cNvSpPr/>
          <p:nvPr/>
        </p:nvSpPr>
        <p:spPr>
          <a:xfrm>
            <a:off x="3291840" y="3063240"/>
            <a:ext cx="2606040" cy="1417320"/>
          </a:xfrm>
          <a:prstGeom prst="roundRect">
            <a:avLst>
              <a:gd fmla="val 5161" name="adj"/>
            </a:avLst>
          </a:prstGeom>
          <a:solidFill>
            <a:srgbClr val="16161F"/>
          </a:solidFill>
          <a:ln cap="flat" cmpd="sng" w="12700">
            <a:solidFill>
              <a:srgbClr val="2A2A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6"/>
          <p:cNvSpPr/>
          <p:nvPr/>
        </p:nvSpPr>
        <p:spPr>
          <a:xfrm>
            <a:off x="3493008" y="3246120"/>
            <a:ext cx="402336" cy="402336"/>
          </a:xfrm>
          <a:prstGeom prst="ellipse">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3" name="Google Shape;363;p16"/>
          <p:cNvPicPr preferRelativeResize="0"/>
          <p:nvPr/>
        </p:nvPicPr>
        <p:blipFill rotWithShape="1">
          <a:blip r:embed="rId5">
            <a:alphaModFix/>
          </a:blip>
          <a:srcRect b="0" l="0" r="0" t="0"/>
          <a:stretch/>
        </p:blipFill>
        <p:spPr>
          <a:xfrm>
            <a:off x="3593592" y="3346704"/>
            <a:ext cx="201168" cy="201168"/>
          </a:xfrm>
          <a:prstGeom prst="rect">
            <a:avLst/>
          </a:prstGeom>
          <a:noFill/>
          <a:ln>
            <a:noFill/>
          </a:ln>
        </p:spPr>
      </p:pic>
      <p:sp>
        <p:nvSpPr>
          <p:cNvPr id="364" name="Google Shape;364;p16"/>
          <p:cNvSpPr/>
          <p:nvPr/>
        </p:nvSpPr>
        <p:spPr>
          <a:xfrm>
            <a:off x="3493008" y="3730752"/>
            <a:ext cx="2240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Arial"/>
              <a:buNone/>
            </a:pPr>
            <a:r>
              <a:rPr b="1" i="0" lang="en-US" sz="1250" u="none" cap="none" strike="noStrike">
                <a:solidFill>
                  <a:srgbClr val="FFFFFF"/>
                </a:solidFill>
                <a:latin typeface="Arial"/>
                <a:ea typeface="Arial"/>
                <a:cs typeface="Arial"/>
                <a:sym typeface="Arial"/>
              </a:rPr>
              <a:t>contact@bruitblanc.digital</a:t>
            </a:r>
            <a:endParaRPr b="0" i="0" sz="1250" u="none" cap="none" strike="noStrike">
              <a:solidFill>
                <a:schemeClr val="dk1"/>
              </a:solidFill>
              <a:latin typeface="Calibri"/>
              <a:ea typeface="Calibri"/>
              <a:cs typeface="Calibri"/>
              <a:sym typeface="Calibri"/>
            </a:endParaRPr>
          </a:p>
        </p:txBody>
      </p:sp>
      <p:sp>
        <p:nvSpPr>
          <p:cNvPr id="365" name="Google Shape;365;p16"/>
          <p:cNvSpPr/>
          <p:nvPr/>
        </p:nvSpPr>
        <p:spPr>
          <a:xfrm>
            <a:off x="3493008" y="4005072"/>
            <a:ext cx="22402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9AB5"/>
              </a:buClr>
              <a:buSzPts val="1000"/>
              <a:buFont typeface="Calibri"/>
              <a:buNone/>
            </a:pPr>
            <a:r>
              <a:rPr b="0" i="0" lang="en-US" sz="1000" u="none" cap="none" strike="noStrike">
                <a:solidFill>
                  <a:srgbClr val="9A9AB5"/>
                </a:solidFill>
                <a:latin typeface="Calibri"/>
                <a:ea typeface="Calibri"/>
                <a:cs typeface="Calibri"/>
                <a:sym typeface="Calibri"/>
              </a:rPr>
              <a:t>Réponse d'un associé, pas d'un commercial</a:t>
            </a:r>
            <a:endParaRPr b="0" i="0" sz="1000" u="none" cap="none" strike="noStrike">
              <a:solidFill>
                <a:schemeClr val="dk1"/>
              </a:solidFill>
              <a:latin typeface="Calibri"/>
              <a:ea typeface="Calibri"/>
              <a:cs typeface="Calibri"/>
              <a:sym typeface="Calibri"/>
            </a:endParaRPr>
          </a:p>
        </p:txBody>
      </p:sp>
      <p:sp>
        <p:nvSpPr>
          <p:cNvPr id="366" name="Google Shape;366;p16"/>
          <p:cNvSpPr/>
          <p:nvPr/>
        </p:nvSpPr>
        <p:spPr>
          <a:xfrm>
            <a:off x="6080760" y="3063240"/>
            <a:ext cx="2606040" cy="1417320"/>
          </a:xfrm>
          <a:prstGeom prst="roundRect">
            <a:avLst>
              <a:gd fmla="val 5161" name="adj"/>
            </a:avLst>
          </a:prstGeom>
          <a:solidFill>
            <a:srgbClr val="16161F"/>
          </a:solidFill>
          <a:ln cap="flat" cmpd="sng" w="12700">
            <a:solidFill>
              <a:srgbClr val="2A2A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6"/>
          <p:cNvSpPr/>
          <p:nvPr/>
        </p:nvSpPr>
        <p:spPr>
          <a:xfrm>
            <a:off x="6281928" y="3246120"/>
            <a:ext cx="402336" cy="402336"/>
          </a:xfrm>
          <a:prstGeom prst="ellipse">
            <a:avLst/>
          </a:prstGeom>
          <a:solidFill>
            <a:srgbClr val="0000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8" name="Google Shape;368;p16"/>
          <p:cNvPicPr preferRelativeResize="0"/>
          <p:nvPr/>
        </p:nvPicPr>
        <p:blipFill rotWithShape="1">
          <a:blip r:embed="rId6">
            <a:alphaModFix/>
          </a:blip>
          <a:srcRect b="0" l="0" r="0" t="0"/>
          <a:stretch/>
        </p:blipFill>
        <p:spPr>
          <a:xfrm>
            <a:off x="6382512" y="3346704"/>
            <a:ext cx="201168" cy="201168"/>
          </a:xfrm>
          <a:prstGeom prst="rect">
            <a:avLst/>
          </a:prstGeom>
          <a:noFill/>
          <a:ln>
            <a:noFill/>
          </a:ln>
        </p:spPr>
      </p:pic>
      <p:sp>
        <p:nvSpPr>
          <p:cNvPr id="369" name="Google Shape;369;p16"/>
          <p:cNvSpPr/>
          <p:nvPr/>
        </p:nvSpPr>
        <p:spPr>
          <a:xfrm>
            <a:off x="6281928" y="3730752"/>
            <a:ext cx="2240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Arial"/>
              <a:buNone/>
            </a:pPr>
            <a:r>
              <a:rPr b="1" i="0" lang="en-US" sz="1250" u="none" cap="none" strike="noStrike">
                <a:solidFill>
                  <a:srgbClr val="FFFFFF"/>
                </a:solidFill>
                <a:latin typeface="Arial"/>
                <a:ea typeface="Arial"/>
                <a:cs typeface="Arial"/>
                <a:sym typeface="Arial"/>
              </a:rPr>
              <a:t>www.bruitblanc.digital</a:t>
            </a:r>
            <a:endParaRPr b="0" i="0" sz="1250" u="none" cap="none" strike="noStrike">
              <a:solidFill>
                <a:schemeClr val="dk1"/>
              </a:solidFill>
              <a:latin typeface="Calibri"/>
              <a:ea typeface="Calibri"/>
              <a:cs typeface="Calibri"/>
              <a:sym typeface="Calibri"/>
            </a:endParaRPr>
          </a:p>
        </p:txBody>
      </p:sp>
      <p:sp>
        <p:nvSpPr>
          <p:cNvPr id="370" name="Google Shape;370;p16"/>
          <p:cNvSpPr/>
          <p:nvPr/>
        </p:nvSpPr>
        <p:spPr>
          <a:xfrm>
            <a:off x="6281928" y="4005072"/>
            <a:ext cx="22402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9AB5"/>
              </a:buClr>
              <a:buSzPts val="1000"/>
              <a:buFont typeface="Calibri"/>
              <a:buNone/>
            </a:pPr>
            <a:r>
              <a:rPr b="0" i="0" lang="en-US" sz="1000" u="none" cap="none" strike="noStrike">
                <a:solidFill>
                  <a:srgbClr val="9A9AB5"/>
                </a:solidFill>
                <a:latin typeface="Calibri"/>
                <a:ea typeface="Calibri"/>
                <a:cs typeface="Calibri"/>
                <a:sym typeface="Calibri"/>
              </a:rPr>
              <a:t>Notre approche, nos cas d'usage, notre manifeste IA et humain</a:t>
            </a:r>
            <a:endParaRPr b="0" i="0" sz="1000" u="none" cap="none" strike="noStrike">
              <a:solidFill>
                <a:schemeClr val="dk1"/>
              </a:solidFill>
              <a:latin typeface="Calibri"/>
              <a:ea typeface="Calibri"/>
              <a:cs typeface="Calibri"/>
              <a:sym typeface="Calibri"/>
            </a:endParaRPr>
          </a:p>
        </p:txBody>
      </p:sp>
      <p:sp>
        <p:nvSpPr>
          <p:cNvPr id="371" name="Google Shape;371;p16"/>
          <p:cNvSpPr/>
          <p:nvPr/>
        </p:nvSpPr>
        <p:spPr>
          <a:xfrm>
            <a:off x="502920" y="4709160"/>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66"/>
              </a:buClr>
              <a:buSzPts val="1100"/>
              <a:buFont typeface="Arial"/>
              <a:buNone/>
            </a:pPr>
            <a:r>
              <a:rPr lang="en-US" sz="1100">
                <a:solidFill>
                  <a:srgbClr val="5A5A66"/>
                </a:solidFill>
              </a:rPr>
              <a:t>REMPARIA</a:t>
            </a:r>
            <a:r>
              <a:rPr b="0" i="0" lang="en-US" sz="1100" u="none" cap="none" strike="noStrike">
                <a:solidFill>
                  <a:srgbClr val="5A5A66"/>
                </a:solidFill>
                <a:latin typeface="Arial"/>
                <a:ea typeface="Arial"/>
                <a:cs typeface="Arial"/>
                <a:sym typeface="Arial"/>
              </a:rPr>
              <a:t> · L'IA souveraine qui augmente vos équipes.</a:t>
            </a:r>
            <a:endParaRPr b="0" i="0" sz="1100" u="none" cap="none" strike="noStrike">
              <a:solidFill>
                <a:schemeClr val="dk1"/>
              </a:solidFill>
              <a:latin typeface="Calibri"/>
              <a:ea typeface="Calibri"/>
              <a:cs typeface="Calibri"/>
              <a:sym typeface="Calibri"/>
            </a:endParaRPr>
          </a:p>
        </p:txBody>
      </p:sp>
      <p:sp>
        <p:nvSpPr>
          <p:cNvPr id="372" name="Google Shape;372;p16"/>
          <p:cNvSpPr/>
          <p:nvPr/>
        </p:nvSpPr>
        <p:spPr>
          <a:xfrm>
            <a:off x="3482638" y="377775"/>
            <a:ext cx="4537200" cy="31701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